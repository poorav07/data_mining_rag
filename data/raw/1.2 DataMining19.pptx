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7.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6858000" cy="9144000"/>
          </a:xfrm>
          <a:prstGeom prst="rect">
            <a:avLst/>
          </a:prstGeom>
          <a:solidFill>
            <a:srgbClr val="FFFFFF"/>
          </a:solidFill>
          <a:ln w="38160">
            <a:noFill/>
          </a:ln>
        </p:spPr>
        <p:txBody>
          <a:bodyPr lIns="90000" tIns="45000" rIns="90000" bIns="45000" anchor="ctr" anchorCtr="1">
            <a:noAutofit/>
          </a:bodyPr>
          <a:p>
            <a:endParaRPr lang="en-IN" sz="1800" b="0" u="none" strike="noStrike">
              <a:solidFill>
                <a:srgbClr val="000000"/>
              </a:solidFill>
              <a:effectLst/>
              <a:uFillTx/>
              <a:latin typeface="Arial"/>
            </a:endParaRPr>
          </a:p>
        </p:txBody>
      </p:sp>
      <p:sp>
        <p:nvSpPr>
          <p:cNvPr id="8" name="PlaceHolder 1"/>
          <p:cNvSpPr>
            <a:spLocks noGrp="1"/>
          </p:cNvSpPr>
          <p:nvPr>
            <p:ph type="hdr"/>
          </p:nvPr>
        </p:nvSpPr>
        <p:spPr>
          <a:xfrm>
            <a:off x="-360" y="0"/>
            <a:ext cx="2971800" cy="457200"/>
          </a:xfrm>
          <a:prstGeom prst="rect">
            <a:avLst/>
          </a:prstGeom>
          <a:noFill/>
          <a:ln w="3816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9" name="PlaceHolder 2"/>
          <p:cNvSpPr>
            <a:spLocks noGrp="1"/>
          </p:cNvSpPr>
          <p:nvPr>
            <p:ph type="dt" idx="4"/>
          </p:nvPr>
        </p:nvSpPr>
        <p:spPr>
          <a:xfrm>
            <a:off x="3884040" y="0"/>
            <a:ext cx="2971800" cy="457200"/>
          </a:xfrm>
          <a:prstGeom prst="rect">
            <a:avLst/>
          </a:prstGeom>
          <a:noFill/>
          <a:ln w="3816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10"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tIns="46800" rIns="90000" bIns="4680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0" u="none" strike="noStrike">
                <a:solidFill>
                  <a:srgbClr val="000000"/>
                </a:solidFill>
                <a:effectLst/>
                <a:uFillTx/>
                <a:latin typeface="Calibri"/>
              </a:rPr>
              <a:t>Click to move the slide</a:t>
            </a:r>
            <a:endParaRPr lang="en-IN" sz="4400" b="0" u="none" strike="noStrike">
              <a:solidFill>
                <a:srgbClr val="000000"/>
              </a:solidFill>
              <a:effectLst/>
              <a:uFillTx/>
              <a:latin typeface="Calibri"/>
            </a:endParaRPr>
          </a:p>
        </p:txBody>
      </p:sp>
      <p:sp>
        <p:nvSpPr>
          <p:cNvPr id="11" name="PlaceHolder 4"/>
          <p:cNvSpPr>
            <a:spLocks noGrp="1"/>
          </p:cNvSpPr>
          <p:nvPr>
            <p:ph type="body"/>
          </p:nvPr>
        </p:nvSpPr>
        <p:spPr>
          <a:xfrm>
            <a:off x="685800" y="4343400"/>
            <a:ext cx="5486400" cy="4114800"/>
          </a:xfrm>
          <a:prstGeom prst="rect">
            <a:avLst/>
          </a:prstGeom>
          <a:noFill/>
          <a:ln w="0">
            <a:noFill/>
          </a:ln>
        </p:spPr>
        <p:txBody>
          <a:bodyPr lIns="90000" tIns="46800" rIns="90000" bIns="4680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200" b="0" u="none" strike="noStrike">
                <a:solidFill>
                  <a:srgbClr val="000000"/>
                </a:solidFill>
                <a:effectLst/>
                <a:uFillTx/>
                <a:latin typeface="Arial"/>
              </a:rPr>
              <a:t>Click to edit the notes format</a:t>
            </a:r>
            <a:endParaRPr lang="en-IN" sz="1200" b="0" u="none" strike="noStrike">
              <a:solidFill>
                <a:srgbClr val="000000"/>
              </a:solidFill>
              <a:effectLst/>
              <a:uFillTx/>
              <a:latin typeface="Arial"/>
            </a:endParaRPr>
          </a:p>
        </p:txBody>
      </p:sp>
      <p:sp>
        <p:nvSpPr>
          <p:cNvPr id="12" name="PlaceHolder 5"/>
          <p:cNvSpPr>
            <a:spLocks noGrp="1"/>
          </p:cNvSpPr>
          <p:nvPr>
            <p:ph type="ftr" idx="5"/>
          </p:nvPr>
        </p:nvSpPr>
        <p:spPr>
          <a:xfrm>
            <a:off x="-360" y="8685000"/>
            <a:ext cx="2971800" cy="457200"/>
          </a:xfrm>
          <a:prstGeom prst="rect">
            <a:avLst/>
          </a:prstGeom>
          <a:noFill/>
          <a:ln w="38160">
            <a:noFill/>
          </a:ln>
        </p:spPr>
        <p:txBody>
          <a:bodyPr lIns="90000" tIns="46800" rIns="90000" bIns="46800" anchor="b">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13" name="PlaceHolder 6"/>
          <p:cNvSpPr>
            <a:spLocks noGrp="1"/>
          </p:cNvSpPr>
          <p:nvPr>
            <p:ph type="sldNum" idx="6"/>
          </p:nvPr>
        </p:nvSpPr>
        <p:spPr>
          <a:xfrm>
            <a:off x="3884040" y="8685000"/>
            <a:ext cx="2971800" cy="457200"/>
          </a:xfrm>
          <a:prstGeom prst="rect">
            <a:avLst/>
          </a:prstGeom>
          <a:noFill/>
          <a:ln w="3816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Arial"/>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4D017AC-0C7F-48BE-9542-598F8BBE18E8}"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7D027BA-0D9D-4EF2-A908-CED8CA3BADD3}"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09" name="PlaceHolder 1"/>
          <p:cNvSpPr>
            <a:spLocks noGrp="1"/>
          </p:cNvSpPr>
          <p:nvPr>
            <p:ph type="sldImg"/>
          </p:nvPr>
        </p:nvSpPr>
        <p:spPr>
          <a:xfrm>
            <a:off x="1143000" y="685800"/>
            <a:ext cx="4572000" cy="3429000"/>
          </a:xfrm>
          <a:prstGeom prst="rect">
            <a:avLst/>
          </a:prstGeom>
          <a:ln w="0">
            <a:noFill/>
          </a:ln>
        </p:spPr>
      </p:sp>
      <p:sp>
        <p:nvSpPr>
          <p:cNvPr id="110"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EBCF2A6-9BE8-4E69-83E9-6F7E6892D7A8}"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12" name="PlaceHolder 1"/>
          <p:cNvSpPr>
            <a:spLocks noGrp="1"/>
          </p:cNvSpPr>
          <p:nvPr>
            <p:ph type="sldImg"/>
          </p:nvPr>
        </p:nvSpPr>
        <p:spPr>
          <a:xfrm>
            <a:off x="1143000" y="685800"/>
            <a:ext cx="4572000" cy="3429000"/>
          </a:xfrm>
          <a:prstGeom prst="rect">
            <a:avLst/>
          </a:prstGeom>
          <a:ln w="0">
            <a:noFill/>
          </a:ln>
        </p:spPr>
      </p:sp>
      <p:sp>
        <p:nvSpPr>
          <p:cNvPr id="113"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D6E37CB-E635-4870-A441-474E613B4B28}"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15" name="PlaceHolder 1"/>
          <p:cNvSpPr>
            <a:spLocks noGrp="1"/>
          </p:cNvSpPr>
          <p:nvPr>
            <p:ph type="sldImg"/>
          </p:nvPr>
        </p:nvSpPr>
        <p:spPr>
          <a:xfrm>
            <a:off x="1143000" y="685800"/>
            <a:ext cx="4572000" cy="3429000"/>
          </a:xfrm>
          <a:prstGeom prst="rect">
            <a:avLst/>
          </a:prstGeom>
          <a:ln w="0">
            <a:noFill/>
          </a:ln>
        </p:spPr>
      </p:sp>
      <p:sp>
        <p:nvSpPr>
          <p:cNvPr id="116"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DC37AA5-45C3-45D6-9BBD-2B8233967E48}"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18" name="PlaceHolder 1"/>
          <p:cNvSpPr>
            <a:spLocks noGrp="1"/>
          </p:cNvSpPr>
          <p:nvPr>
            <p:ph type="sldImg"/>
          </p:nvPr>
        </p:nvSpPr>
        <p:spPr>
          <a:xfrm>
            <a:off x="1143000" y="685800"/>
            <a:ext cx="4572000" cy="3429000"/>
          </a:xfrm>
          <a:prstGeom prst="rect">
            <a:avLst/>
          </a:prstGeom>
          <a:ln w="0">
            <a:noFill/>
          </a:ln>
        </p:spPr>
      </p:sp>
      <p:sp>
        <p:nvSpPr>
          <p:cNvPr id="119"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0258355-343C-47F5-B188-A12EDFE061B4}"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21" name="PlaceHolder 1"/>
          <p:cNvSpPr>
            <a:spLocks noGrp="1"/>
          </p:cNvSpPr>
          <p:nvPr>
            <p:ph type="sldImg"/>
          </p:nvPr>
        </p:nvSpPr>
        <p:spPr>
          <a:xfrm>
            <a:off x="1143000" y="685800"/>
            <a:ext cx="4572000" cy="3429000"/>
          </a:xfrm>
          <a:prstGeom prst="rect">
            <a:avLst/>
          </a:prstGeom>
          <a:ln w="0">
            <a:noFill/>
          </a:ln>
        </p:spPr>
      </p:sp>
      <p:sp>
        <p:nvSpPr>
          <p:cNvPr id="122"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355CE72-6AA2-4860-B646-4D2091BE73AA}"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24" name="PlaceHolder 1"/>
          <p:cNvSpPr>
            <a:spLocks noGrp="1"/>
          </p:cNvSpPr>
          <p:nvPr>
            <p:ph type="sldImg"/>
          </p:nvPr>
        </p:nvSpPr>
        <p:spPr>
          <a:xfrm>
            <a:off x="1143000" y="685800"/>
            <a:ext cx="4572000" cy="3429000"/>
          </a:xfrm>
          <a:prstGeom prst="rect">
            <a:avLst/>
          </a:prstGeom>
          <a:ln w="0">
            <a:noFill/>
          </a:ln>
        </p:spPr>
      </p:sp>
      <p:sp>
        <p:nvSpPr>
          <p:cNvPr id="125"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0F9AC56-2137-4C6A-8CEC-466E4D9E620F}"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27" name="PlaceHolder 1"/>
          <p:cNvSpPr>
            <a:spLocks noGrp="1"/>
          </p:cNvSpPr>
          <p:nvPr>
            <p:ph type="sldImg"/>
          </p:nvPr>
        </p:nvSpPr>
        <p:spPr>
          <a:xfrm>
            <a:off x="1143000" y="685800"/>
            <a:ext cx="4572000" cy="3429000"/>
          </a:xfrm>
          <a:prstGeom prst="rect">
            <a:avLst/>
          </a:prstGeom>
          <a:ln w="0">
            <a:noFill/>
          </a:ln>
        </p:spPr>
      </p:sp>
      <p:sp>
        <p:nvSpPr>
          <p:cNvPr id="128"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9C8E872-B6A7-4E76-9113-8E06367DAB61}"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30" name="PlaceHolder 1"/>
          <p:cNvSpPr>
            <a:spLocks noGrp="1"/>
          </p:cNvSpPr>
          <p:nvPr>
            <p:ph type="sldImg"/>
          </p:nvPr>
        </p:nvSpPr>
        <p:spPr>
          <a:xfrm>
            <a:off x="1143000" y="685800"/>
            <a:ext cx="4572000" cy="3429000"/>
          </a:xfrm>
          <a:prstGeom prst="rect">
            <a:avLst/>
          </a:prstGeom>
          <a:ln w="0">
            <a:noFill/>
          </a:ln>
        </p:spPr>
      </p:sp>
      <p:sp>
        <p:nvSpPr>
          <p:cNvPr id="131"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7D9391A-5F66-460F-A612-AFC9204DE25F}"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33" name="PlaceHolder 1"/>
          <p:cNvSpPr>
            <a:spLocks noGrp="1"/>
          </p:cNvSpPr>
          <p:nvPr>
            <p:ph type="sldImg"/>
          </p:nvPr>
        </p:nvSpPr>
        <p:spPr>
          <a:xfrm>
            <a:off x="1143000" y="685800"/>
            <a:ext cx="4572000" cy="3429000"/>
          </a:xfrm>
          <a:prstGeom prst="rect">
            <a:avLst/>
          </a:prstGeom>
          <a:ln w="0">
            <a:noFill/>
          </a:ln>
        </p:spPr>
      </p:sp>
      <p:sp>
        <p:nvSpPr>
          <p:cNvPr id="134"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6055CE1-31F9-487A-A465-5F1ED954664A}"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36" name="PlaceHolder 1"/>
          <p:cNvSpPr>
            <a:spLocks noGrp="1"/>
          </p:cNvSpPr>
          <p:nvPr>
            <p:ph type="sldImg"/>
          </p:nvPr>
        </p:nvSpPr>
        <p:spPr>
          <a:xfrm>
            <a:off x="1143000" y="685800"/>
            <a:ext cx="4572000" cy="3429000"/>
          </a:xfrm>
          <a:prstGeom prst="rect">
            <a:avLst/>
          </a:prstGeom>
          <a:ln w="0">
            <a:noFill/>
          </a:ln>
        </p:spPr>
      </p:sp>
      <p:sp>
        <p:nvSpPr>
          <p:cNvPr id="137"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4A1625A-AF57-4275-A485-21A62FCF9330}"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39" name="PlaceHolder 1"/>
          <p:cNvSpPr>
            <a:spLocks noGrp="1"/>
          </p:cNvSpPr>
          <p:nvPr>
            <p:ph type="sldImg"/>
          </p:nvPr>
        </p:nvSpPr>
        <p:spPr>
          <a:xfrm>
            <a:off x="1143000" y="685800"/>
            <a:ext cx="4572000" cy="3429000"/>
          </a:xfrm>
          <a:prstGeom prst="rect">
            <a:avLst/>
          </a:prstGeom>
          <a:ln w="0">
            <a:noFill/>
          </a:ln>
        </p:spPr>
      </p:sp>
      <p:sp>
        <p:nvSpPr>
          <p:cNvPr id="140"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01727E8-68A8-4FE2-8185-8782E47B499D}"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42" name="PlaceHolder 1"/>
          <p:cNvSpPr>
            <a:spLocks noGrp="1"/>
          </p:cNvSpPr>
          <p:nvPr>
            <p:ph type="sldImg"/>
          </p:nvPr>
        </p:nvSpPr>
        <p:spPr>
          <a:xfrm>
            <a:off x="1143000" y="685800"/>
            <a:ext cx="4572000" cy="3429000"/>
          </a:xfrm>
          <a:prstGeom prst="rect">
            <a:avLst/>
          </a:prstGeom>
          <a:ln w="0">
            <a:noFill/>
          </a:ln>
        </p:spPr>
      </p:sp>
      <p:sp>
        <p:nvSpPr>
          <p:cNvPr id="143"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Rectangle 7"/>
          <p:cNvSpPr/>
          <p:nvPr/>
        </p:nvSpPr>
        <p:spPr>
          <a:xfrm>
            <a:off x="3884400" y="8685000"/>
            <a:ext cx="2971800" cy="457200"/>
          </a:xfrm>
          <a:prstGeom prst="rect">
            <a:avLst/>
          </a:prstGeom>
          <a:noFill/>
          <a:ln w="3816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D981683-B25E-4793-9664-307E423CA8D0}" type="slidenum">
              <a:rPr lang="en-US" sz="1200" b="0" u="none" strike="noStrike">
                <a:solidFill>
                  <a:srgbClr val="000000"/>
                </a:solidFill>
                <a:effectLst/>
                <a:uFillTx/>
                <a:latin typeface="Arial"/>
              </a:rPr>
              <a:t>&lt;number&gt;</a:t>
            </a:fld>
            <a:endParaRPr lang="en-IN" sz="1200" b="0" u="none" strike="noStrike">
              <a:solidFill>
                <a:srgbClr val="000000"/>
              </a:solidFill>
              <a:effectLst/>
              <a:uFillTx/>
              <a:latin typeface="Arial"/>
            </a:endParaRPr>
          </a:p>
        </p:txBody>
      </p:sp>
      <p:sp>
        <p:nvSpPr>
          <p:cNvPr id="145" name="PlaceHolder 1"/>
          <p:cNvSpPr>
            <a:spLocks noGrp="1"/>
          </p:cNvSpPr>
          <p:nvPr>
            <p:ph type="sldImg"/>
          </p:nvPr>
        </p:nvSpPr>
        <p:spPr>
          <a:xfrm>
            <a:off x="1143000" y="685800"/>
            <a:ext cx="4572000" cy="3429000"/>
          </a:xfrm>
          <a:prstGeom prst="rect">
            <a:avLst/>
          </a:prstGeom>
          <a:ln w="0">
            <a:noFill/>
          </a:ln>
        </p:spPr>
      </p:sp>
      <p:sp>
        <p:nvSpPr>
          <p:cNvPr id="146" name="PlaceHolder 2"/>
          <p:cNvSpPr>
            <a:spLocks noGrp="1"/>
          </p:cNvSpPr>
          <p:nvPr>
            <p:ph type="body"/>
          </p:nvPr>
        </p:nvSpPr>
        <p:spPr>
          <a:xfrm>
            <a:off x="685800" y="4343400"/>
            <a:ext cx="5486400" cy="41148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D375FBA-1277-4C29-BEF2-B9B16CF29611}" type="slidenum">
              <a:t>&lt;#&gt;</a:t>
            </a:fld>
          </a:p>
        </p:txBody>
      </p:sp>
      <p:sp>
        <p:nvSpPr>
          <p:cNvPr id="4" name="PlaceHolder 3"/>
          <p:cNvSpPr>
            <a:spLocks noGrp="1"/>
          </p:cNvSpPr>
          <p:nvPr>
            <p:ph type="dt" idx="1"/>
          </p:nvPr>
        </p:nvSpPr>
        <p:spPr/>
        <p:txBody>
          <a:bodyPr/>
          <a:p>
            <a:r>
              <a:rPr lang="en-IN"/>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960"/>
            <a:ext cx="822960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4400" b="0" u="none" strike="noStrike">
                <a:solidFill>
                  <a:srgbClr val="000000"/>
                </a:solidFill>
                <a:effectLst/>
                <a:uFillTx/>
                <a:latin typeface="Calibri"/>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0" u="none" strike="noStrike">
                <a:solidFill>
                  <a:srgbClr val="000000"/>
                </a:solidFill>
                <a:effectLst/>
                <a:uFillTx/>
                <a:latin typeface="Calibri"/>
              </a:rPr>
              <a:t>Click to edit the title text format</a:t>
            </a:r>
            <a:endParaRPr lang="en-IN" sz="4400" b="0" u="none" strike="noStrike">
              <a:solidFill>
                <a:srgbClr val="000000"/>
              </a:solidFill>
              <a:effectLst/>
              <a:uFillTx/>
              <a:latin typeface="Calibri"/>
            </a:endParaRPr>
          </a:p>
        </p:txBody>
      </p:sp>
      <p:sp>
        <p:nvSpPr>
          <p:cNvPr id="3" name="PlaceHolder 2"/>
          <p:cNvSpPr>
            <a:spLocks noGrp="1"/>
          </p:cNvSpPr>
          <p:nvPr>
            <p:ph type="body"/>
          </p:nvPr>
        </p:nvSpPr>
        <p:spPr>
          <a:xfrm>
            <a:off x="457200" y="1600200"/>
            <a:ext cx="8229600" cy="4525920"/>
          </a:xfrm>
          <a:prstGeom prst="rect">
            <a:avLst/>
          </a:prstGeom>
          <a:noFill/>
          <a:ln w="0">
            <a:noFill/>
          </a:ln>
        </p:spPr>
        <p:txBody>
          <a:bodyPr lIns="90000" tIns="46800" rIns="90000" bIns="46800" anchor="t">
            <a:normAutofit/>
          </a:bodyPr>
          <a:lstStyle>
            <a:lvl1pPr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IN" sz="3200" b="0" u="none" strike="noStrike">
                <a:solidFill>
                  <a:srgbClr val="000000"/>
                </a:solidFill>
                <a:effectLst/>
                <a:uFillTx/>
                <a:latin typeface="Calibri"/>
              </a:defRPr>
            </a:lvl1pPr>
            <a:lvl2pPr lvl="1"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IN" sz="3200" b="0" u="none" strike="noStrike">
                <a:solidFill>
                  <a:srgbClr val="000000"/>
                </a:solidFill>
                <a:effectLst/>
                <a:uFillTx/>
                <a:latin typeface="Calibri"/>
              </a:defRPr>
            </a:lvl2pPr>
            <a:lvl3pPr lvl="2"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IN" sz="3200" b="0" u="none" strike="noStrike">
                <a:solidFill>
                  <a:srgbClr val="000000"/>
                </a:solidFill>
                <a:effectLst/>
                <a:uFillTx/>
                <a:latin typeface="Calibri"/>
              </a:defRPr>
            </a:lvl3pPr>
            <a:lvl4pPr lvl="3"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IN" sz="3200" b="0" u="none" strike="noStrike">
                <a:solidFill>
                  <a:srgbClr val="000000"/>
                </a:solidFill>
                <a:effectLst/>
                <a:uFillTx/>
                <a:latin typeface="Calibri"/>
              </a:defRPr>
            </a:lvl4pPr>
            <a:lvl5pPr lvl="4"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IN" sz="3200" b="0" u="none" strike="noStrike">
                <a:solidFill>
                  <a:srgbClr val="000000"/>
                </a:solidFill>
                <a:effectLst/>
                <a:uFillTx/>
                <a:latin typeface="Calibri"/>
              </a:defRPr>
            </a:lvl5pPr>
            <a:lvl6pPr lvl="5"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IN" sz="3200" b="0" u="none" strike="noStrike">
                <a:solidFill>
                  <a:srgbClr val="000000"/>
                </a:solidFill>
                <a:effectLst/>
                <a:uFillTx/>
                <a:latin typeface="Calibri"/>
              </a:defRPr>
            </a:lvl6pPr>
            <a:lvl7pPr lvl="6"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IN" sz="3200" b="0" u="none" strike="noStrike">
                <a:solidFill>
                  <a:srgbClr val="000000"/>
                </a:solidFill>
                <a:effectLst/>
                <a:uFillTx/>
                <a:latin typeface="Calibri"/>
              </a:defRPr>
            </a:lvl7pPr>
          </a:lstStyle>
          <a:p>
            <a:pPr marL="343080" indent="-34308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000000"/>
                </a:solidFill>
                <a:effectLst/>
                <a:uFillTx/>
                <a:latin typeface="Calibri"/>
              </a:rPr>
              <a:t>Click to edit the outline text format</a:t>
            </a:r>
            <a:endParaRPr lang="en-IN" sz="3200" b="0" u="none" strike="noStrike">
              <a:solidFill>
                <a:srgbClr val="000000"/>
              </a:solidFill>
              <a:effectLst/>
              <a:uFillTx/>
              <a:latin typeface="Calibri"/>
            </a:endParaRPr>
          </a:p>
          <a:p>
            <a:pPr marL="743040" lvl="1" indent="-28584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000000"/>
                </a:solidFill>
                <a:effectLst/>
                <a:uFillTx/>
                <a:latin typeface="Calibri"/>
              </a:rPr>
              <a:t>Second Outline Level</a:t>
            </a:r>
            <a:endParaRPr lang="en-IN" sz="3200" b="0" u="none" strike="noStrike">
              <a:solidFill>
                <a:srgbClr val="000000"/>
              </a:solidFill>
              <a:effectLst/>
              <a:uFillTx/>
              <a:latin typeface="Calibri"/>
            </a:endParaRPr>
          </a:p>
          <a:p>
            <a:pPr marL="1143000" lvl="2"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000000"/>
                </a:solidFill>
                <a:effectLst/>
                <a:uFillTx/>
                <a:latin typeface="Calibri"/>
              </a:rPr>
              <a:t>Third Outline Level</a:t>
            </a:r>
            <a:endParaRPr lang="en-IN" sz="3200" b="0" u="none" strike="noStrike">
              <a:solidFill>
                <a:srgbClr val="000000"/>
              </a:solidFill>
              <a:effectLst/>
              <a:uFillTx/>
              <a:latin typeface="Calibri"/>
            </a:endParaRPr>
          </a:p>
          <a:p>
            <a:pPr marL="1600200" lvl="3"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000000"/>
                </a:solidFill>
                <a:effectLst/>
                <a:uFillTx/>
                <a:latin typeface="Calibri"/>
              </a:rPr>
              <a:t>Fourth Outline Level</a:t>
            </a:r>
            <a:endParaRPr lang="en-IN" sz="3200" b="0" u="none" strike="noStrike">
              <a:solidFill>
                <a:srgbClr val="000000"/>
              </a:solidFill>
              <a:effectLst/>
              <a:uFillTx/>
              <a:latin typeface="Calibri"/>
            </a:endParaRPr>
          </a:p>
          <a:p>
            <a:pPr marL="2057400" lvl="4"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000000"/>
                </a:solidFill>
                <a:effectLst/>
                <a:uFillTx/>
                <a:latin typeface="Calibri"/>
              </a:rPr>
              <a:t>Fifth Outline Level</a:t>
            </a:r>
            <a:endParaRPr lang="en-IN" sz="3200" b="0" u="none" strike="noStrike">
              <a:solidFill>
                <a:srgbClr val="000000"/>
              </a:solidFill>
              <a:effectLst/>
              <a:uFillTx/>
              <a:latin typeface="Calibri"/>
            </a:endParaRPr>
          </a:p>
          <a:p>
            <a:pPr marL="2057400" lvl="5"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000000"/>
                </a:solidFill>
                <a:effectLst/>
                <a:uFillTx/>
                <a:latin typeface="Calibri"/>
              </a:rPr>
              <a:t>Sixth Outline Level</a:t>
            </a:r>
            <a:endParaRPr lang="en-IN" sz="3200" b="0" u="none" strike="noStrike">
              <a:solidFill>
                <a:srgbClr val="000000"/>
              </a:solidFill>
              <a:effectLst/>
              <a:uFillTx/>
              <a:latin typeface="Calibri"/>
            </a:endParaRPr>
          </a:p>
          <a:p>
            <a:pPr marL="2057400" lvl="6"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000000"/>
                </a:solidFill>
                <a:effectLst/>
                <a:uFillTx/>
                <a:latin typeface="Calibri"/>
              </a:rPr>
              <a:t>Seventh Outline Level</a:t>
            </a:r>
            <a:endParaRPr lang="en-IN" sz="3200" b="0" u="none" strike="noStrike">
              <a:solidFill>
                <a:srgbClr val="000000"/>
              </a:solidFill>
              <a:effectLst/>
              <a:uFillTx/>
              <a:latin typeface="Calibri"/>
            </a:endParaRPr>
          </a:p>
        </p:txBody>
      </p:sp>
      <p:sp>
        <p:nvSpPr>
          <p:cNvPr id="4" name="PlaceHolder 3"/>
          <p:cNvSpPr>
            <a:spLocks noGrp="1"/>
          </p:cNvSpPr>
          <p:nvPr>
            <p:ph type="dt" idx="1"/>
          </p:nvPr>
        </p:nvSpPr>
        <p:spPr>
          <a:xfrm>
            <a:off x="457200" y="6356160"/>
            <a:ext cx="2133360" cy="365040"/>
          </a:xfrm>
          <a:prstGeom prst="rect">
            <a:avLst/>
          </a:prstGeom>
          <a:noFill/>
          <a:ln w="3816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5" name="PlaceHolder 4"/>
          <p:cNvSpPr>
            <a:spLocks noGrp="1"/>
          </p:cNvSpPr>
          <p:nvPr>
            <p:ph type="ftr" idx="2"/>
          </p:nvPr>
        </p:nvSpPr>
        <p:spPr>
          <a:xfrm>
            <a:off x="3123720" y="6356160"/>
            <a:ext cx="2895480" cy="365040"/>
          </a:xfrm>
          <a:prstGeom prst="rect">
            <a:avLst/>
          </a:prstGeom>
          <a:noFill/>
          <a:ln w="3816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6" name="PlaceHolder 5"/>
          <p:cNvSpPr>
            <a:spLocks noGrp="1"/>
          </p:cNvSpPr>
          <p:nvPr>
            <p:ph type="sldNum" idx="3"/>
          </p:nvPr>
        </p:nvSpPr>
        <p:spPr>
          <a:xfrm>
            <a:off x="6552720" y="6356160"/>
            <a:ext cx="2133720" cy="365040"/>
          </a:xfrm>
          <a:prstGeom prst="rect">
            <a:avLst/>
          </a:prstGeom>
          <a:noFill/>
          <a:ln w="3816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898989"/>
                </a:solidFill>
                <a:effectLst/>
                <a:uFillTx/>
                <a:latin typeface="Arial"/>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2B3844D-F402-41AB-86E0-53FA2834AAB5}" type="slidenum">
              <a:rPr lang="en-US" sz="1200" b="0" u="none" strike="noStrike">
                <a:solidFill>
                  <a:srgbClr val="898989"/>
                </a:solidFill>
                <a:effectLst/>
                <a:uFillTx/>
                <a:latin typeface="Arial"/>
              </a:rPr>
              <a:t>&lt;number&gt;</a:t>
            </a:fld>
            <a:endParaRPr lang="en-IN" sz="12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609840" y="-228960"/>
            <a:ext cx="556236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DATA MINING</a:t>
            </a:r>
            <a:endParaRPr lang="en-IN" sz="3200" b="0" u="none" strike="noStrike">
              <a:solidFill>
                <a:srgbClr val="000000"/>
              </a:solidFill>
              <a:effectLst/>
              <a:uFillTx/>
              <a:latin typeface="Calibri"/>
            </a:endParaRPr>
          </a:p>
        </p:txBody>
      </p:sp>
      <p:sp>
        <p:nvSpPr>
          <p:cNvPr id="15" name=""/>
          <p:cNvSpPr txBox="1"/>
          <p:nvPr/>
        </p:nvSpPr>
        <p:spPr>
          <a:xfrm>
            <a:off x="228600" y="990360"/>
            <a:ext cx="8686800" cy="4525920"/>
          </a:xfrm>
          <a:prstGeom prst="rect">
            <a:avLst/>
          </a:prstGeom>
          <a:noFill/>
          <a:ln w="0">
            <a:noFill/>
          </a:ln>
        </p:spPr>
        <p:txBody>
          <a:bodyPr anchor="t">
            <a:normAutofit fontScale="85000" lnSpcReduction="9999"/>
          </a:bodyPr>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0" u="none" strike="noStrike">
                <a:solidFill>
                  <a:srgbClr val="C00000"/>
                </a:solidFill>
                <a:effectLst/>
                <a:uFillTx/>
                <a:latin typeface="Arial"/>
                <a:ea typeface="Arial"/>
              </a:rPr>
              <a:t>DB / information retrieval / deductive db system</a:t>
            </a: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C00000"/>
                </a:solidFill>
                <a:effectLst/>
                <a:uFillTx/>
                <a:latin typeface="Arial"/>
                <a:ea typeface="Arial"/>
              </a:rPr>
              <a:t>DW perspective DM </a:t>
            </a: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0" u="none" strike="noStrike">
                <a:solidFill>
                  <a:srgbClr val="C00000"/>
                </a:solidFill>
                <a:effectLst/>
                <a:uFillTx/>
                <a:latin typeface="Arial"/>
                <a:ea typeface="Arial"/>
              </a:rPr>
              <a:t>Machine Learning system, Statistical Data Analysis</a:t>
            </a: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0" u="none" strike="noStrike">
                <a:solidFill>
                  <a:srgbClr val="C00000"/>
                </a:solidFill>
                <a:effectLst/>
                <a:uFillTx/>
                <a:latin typeface="Arial"/>
                <a:ea typeface="Arial"/>
              </a:rPr>
              <a:t>By DM – interesting knowledge, regularities, high level information  extracted from db and viewed or browed from different angels</a:t>
            </a: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0" u="none" strike="noStrike">
                <a:solidFill>
                  <a:srgbClr val="C00000"/>
                </a:solidFill>
                <a:effectLst/>
                <a:uFillTx/>
                <a:latin typeface="Arial"/>
                <a:ea typeface="Arial"/>
              </a:rPr>
              <a:t>Knowledge useful in decision making, process control, info mgt, query</a:t>
            </a:r>
            <a:endParaRPr lang="en-IN" sz="1600" b="0" u="none" strike="noStrike">
              <a:solidFill>
                <a:srgbClr val="000000"/>
              </a:solidFill>
              <a:effectLst/>
              <a:uFillTx/>
              <a:latin typeface="Calibri"/>
            </a:endParaRPr>
          </a:p>
          <a:p>
            <a:pPr marL="343080" indent="-343080">
              <a:lnSpc>
                <a:spcPct val="2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0" u="none" strike="noStrike">
                <a:solidFill>
                  <a:srgbClr val="C00000"/>
                </a:solidFill>
                <a:effectLst/>
                <a:uFillTx/>
                <a:latin typeface="Arial"/>
                <a:ea typeface="Arial"/>
              </a:rPr>
              <a:t> processing  - which is interdisciplinary developments</a:t>
            </a:r>
            <a:endParaRPr lang="en-IN" sz="16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 name="Picture 2"/>
          <p:cNvPicPr/>
          <p:nvPr/>
        </p:nvPicPr>
        <p:blipFill>
          <a:blip r:embed="rId1"/>
          <a:stretch/>
        </p:blipFill>
        <p:spPr>
          <a:xfrm>
            <a:off x="145800" y="152280"/>
            <a:ext cx="8998200" cy="6019920"/>
          </a:xfrm>
          <a:prstGeom prst="rect">
            <a:avLst/>
          </a:prstGeom>
          <a:noFill/>
          <a:ln w="38160">
            <a:noFill/>
          </a:ln>
        </p:spPr>
      </p:pic>
      <p:sp>
        <p:nvSpPr>
          <p:cNvPr id="17" name="Rectangle 2"/>
          <p:cNvSpPr/>
          <p:nvPr/>
        </p:nvSpPr>
        <p:spPr>
          <a:xfrm>
            <a:off x="228600" y="6172200"/>
            <a:ext cx="8915400" cy="533160"/>
          </a:xfrm>
          <a:prstGeom prst="rect">
            <a:avLst/>
          </a:prstGeom>
          <a:noFill/>
          <a:ln w="38160">
            <a:noFill/>
          </a:ln>
        </p:spPr>
        <p:style>
          <a:lnRef idx="0"/>
          <a:fillRef idx="0"/>
          <a:effectRef idx="0"/>
          <a:fontRef idx="minor"/>
        </p:style>
        <p:txBody>
          <a:bodyPr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Arial"/>
                <a:ea typeface="Arial"/>
              </a:rPr>
              <a:t>DM- /Promising interdisciplinary developments in the information Technology</a:t>
            </a:r>
            <a:endParaRPr lang="en-IN"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152640" y="-360"/>
            <a:ext cx="9219960" cy="1143000"/>
          </a:xfrm>
          <a:prstGeom prst="rect">
            <a:avLst/>
          </a:prstGeom>
          <a:noFill/>
          <a:ln w="0">
            <a:noFill/>
          </a:ln>
        </p:spPr>
        <p:txBody>
          <a:bodyPr lIns="91800" tIns="45720" rIns="9180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000000"/>
                </a:solidFill>
                <a:effectLst/>
                <a:uFillTx/>
                <a:latin typeface="Calibri"/>
              </a:rPr>
              <a:t>Architecture Data Mining System</a:t>
            </a:r>
            <a:endParaRPr lang="en-IN" sz="4000" b="0" u="none" strike="noStrike">
              <a:solidFill>
                <a:srgbClr val="000000"/>
              </a:solidFill>
              <a:effectLst/>
              <a:uFillTx/>
              <a:latin typeface="Calibri"/>
            </a:endParaRPr>
          </a:p>
        </p:txBody>
      </p:sp>
      <p:sp>
        <p:nvSpPr>
          <p:cNvPr id="19" name="Rectangle 3"/>
          <p:cNvSpPr/>
          <p:nvPr/>
        </p:nvSpPr>
        <p:spPr>
          <a:xfrm>
            <a:off x="3200400" y="5486400"/>
            <a:ext cx="914400" cy="838080"/>
          </a:xfrm>
          <a:prstGeom prst="rect">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20" name="Oval 4"/>
          <p:cNvSpPr/>
          <p:nvPr/>
        </p:nvSpPr>
        <p:spPr>
          <a:xfrm>
            <a:off x="3200400" y="5333760"/>
            <a:ext cx="914400" cy="38124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21" name="Oval 5"/>
          <p:cNvSpPr/>
          <p:nvPr/>
        </p:nvSpPr>
        <p:spPr>
          <a:xfrm>
            <a:off x="4952880" y="6172200"/>
            <a:ext cx="1295280" cy="38088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22" name="Rectangle 6"/>
          <p:cNvSpPr/>
          <p:nvPr/>
        </p:nvSpPr>
        <p:spPr>
          <a:xfrm>
            <a:off x="4952880" y="5486400"/>
            <a:ext cx="1295280" cy="838080"/>
          </a:xfrm>
          <a:prstGeom prst="rect">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23" name="Oval 7"/>
          <p:cNvSpPr/>
          <p:nvPr/>
        </p:nvSpPr>
        <p:spPr>
          <a:xfrm>
            <a:off x="4952880" y="5333760"/>
            <a:ext cx="1295280" cy="30492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24" name="Text Box 8"/>
          <p:cNvSpPr/>
          <p:nvPr/>
        </p:nvSpPr>
        <p:spPr>
          <a:xfrm>
            <a:off x="4876560" y="5638680"/>
            <a:ext cx="1447920" cy="703080"/>
          </a:xfrm>
          <a:prstGeom prst="rect">
            <a:avLst/>
          </a:prstGeom>
          <a:noFill/>
          <a:ln w="3816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C0504D"/>
                </a:solidFill>
                <a:effectLst/>
                <a:uFillTx/>
                <a:latin typeface="Times New Roman"/>
              </a:rPr>
              <a:t>Data </a:t>
            </a:r>
            <a:endParaRPr lang="en-IN" sz="2000" b="0" u="none" strike="noStrike">
              <a:solidFill>
                <a:srgbClr val="000000"/>
              </a:solidFill>
              <a:effectLst/>
              <a:uFillTx/>
              <a:latin typeface="Arial"/>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C0504D"/>
                </a:solidFill>
                <a:effectLst/>
                <a:uFillTx/>
                <a:latin typeface="Times New Roman"/>
              </a:rPr>
              <a:t>Warehouse</a:t>
            </a:r>
            <a:endParaRPr lang="en-IN" sz="2000" b="0" u="none" strike="noStrike">
              <a:solidFill>
                <a:srgbClr val="000000"/>
              </a:solidFill>
              <a:effectLst/>
              <a:uFillTx/>
              <a:latin typeface="Arial"/>
            </a:endParaRPr>
          </a:p>
        </p:txBody>
      </p:sp>
      <p:sp>
        <p:nvSpPr>
          <p:cNvPr id="25" name="Line 9"/>
          <p:cNvSpPr/>
          <p:nvPr/>
        </p:nvSpPr>
        <p:spPr>
          <a:xfrm>
            <a:off x="5257800" y="4038480"/>
            <a:ext cx="0" cy="30492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26" name="Line 10"/>
          <p:cNvSpPr/>
          <p:nvPr/>
        </p:nvSpPr>
        <p:spPr>
          <a:xfrm>
            <a:off x="3276360" y="4038480"/>
            <a:ext cx="0" cy="30492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27" name="Line 11"/>
          <p:cNvSpPr/>
          <p:nvPr/>
        </p:nvSpPr>
        <p:spPr>
          <a:xfrm>
            <a:off x="6019560" y="3809880"/>
            <a:ext cx="1067040" cy="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28" name="Line 12"/>
          <p:cNvSpPr/>
          <p:nvPr/>
        </p:nvSpPr>
        <p:spPr>
          <a:xfrm>
            <a:off x="3276360" y="3276360"/>
            <a:ext cx="0" cy="30492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29" name="Line 13"/>
          <p:cNvSpPr/>
          <p:nvPr/>
        </p:nvSpPr>
        <p:spPr>
          <a:xfrm>
            <a:off x="5333760" y="3276360"/>
            <a:ext cx="0" cy="30492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30" name="Line 14"/>
          <p:cNvSpPr/>
          <p:nvPr/>
        </p:nvSpPr>
        <p:spPr>
          <a:xfrm>
            <a:off x="3657600" y="4952880"/>
            <a:ext cx="0" cy="53352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31" name="Line 15"/>
          <p:cNvSpPr/>
          <p:nvPr/>
        </p:nvSpPr>
        <p:spPr>
          <a:xfrm>
            <a:off x="5562360" y="4952880"/>
            <a:ext cx="0" cy="53352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32" name="Text Box 16"/>
          <p:cNvSpPr/>
          <p:nvPr/>
        </p:nvSpPr>
        <p:spPr>
          <a:xfrm>
            <a:off x="0" y="5029200"/>
            <a:ext cx="3581280" cy="368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Times New Roman"/>
              </a:rPr>
              <a:t>Data cleaning &amp; data integration</a:t>
            </a:r>
            <a:endParaRPr lang="en-IN" sz="1800" b="0" u="none" strike="noStrike">
              <a:solidFill>
                <a:srgbClr val="000000"/>
              </a:solidFill>
              <a:effectLst/>
              <a:uFillTx/>
              <a:latin typeface="Arial"/>
            </a:endParaRPr>
          </a:p>
        </p:txBody>
      </p:sp>
      <p:sp>
        <p:nvSpPr>
          <p:cNvPr id="33" name="Text Box 17"/>
          <p:cNvSpPr/>
          <p:nvPr/>
        </p:nvSpPr>
        <p:spPr>
          <a:xfrm>
            <a:off x="5715000" y="4952880"/>
            <a:ext cx="2743200" cy="368280"/>
          </a:xfrm>
          <a:prstGeom prst="rect">
            <a:avLst/>
          </a:prstGeom>
          <a:noFill/>
          <a:ln w="38160">
            <a:noFill/>
          </a:ln>
        </p:spPr>
        <p:style>
          <a:lnRef idx="0"/>
          <a:fillRef idx="0"/>
          <a:effectRef idx="0"/>
          <a:fontRef idx="minor"/>
        </p:style>
        <p:txBody>
          <a:bodyPr lIns="90000" tIns="46800" rIns="90000" bIns="46800" anchor="t">
            <a:spAutoFit/>
          </a:bodyPr>
          <a:p>
            <a:pPr>
              <a:lnSpc>
                <a:spcPct val="10000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Times New Roman"/>
              </a:rPr>
              <a:t>Filtering/Selection</a:t>
            </a:r>
            <a:endParaRPr lang="en-IN" sz="1800" b="0" u="none" strike="noStrike">
              <a:solidFill>
                <a:srgbClr val="000000"/>
              </a:solidFill>
              <a:effectLst/>
              <a:uFillTx/>
              <a:latin typeface="Arial"/>
            </a:endParaRPr>
          </a:p>
        </p:txBody>
      </p:sp>
      <p:sp>
        <p:nvSpPr>
          <p:cNvPr id="34" name="Oval 18"/>
          <p:cNvSpPr/>
          <p:nvPr/>
        </p:nvSpPr>
        <p:spPr>
          <a:xfrm>
            <a:off x="3200400" y="6172200"/>
            <a:ext cx="914400" cy="38088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35" name="Rectangle 19"/>
          <p:cNvSpPr/>
          <p:nvPr/>
        </p:nvSpPr>
        <p:spPr>
          <a:xfrm>
            <a:off x="2286000" y="5486400"/>
            <a:ext cx="914400" cy="838080"/>
          </a:xfrm>
          <a:prstGeom prst="rect">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36" name="Oval 20"/>
          <p:cNvSpPr/>
          <p:nvPr/>
        </p:nvSpPr>
        <p:spPr>
          <a:xfrm>
            <a:off x="2286000" y="5333760"/>
            <a:ext cx="914400" cy="38124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37" name="Oval 21"/>
          <p:cNvSpPr/>
          <p:nvPr/>
        </p:nvSpPr>
        <p:spPr>
          <a:xfrm>
            <a:off x="2286000" y="6172200"/>
            <a:ext cx="914400" cy="38088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38" name="Text Box 22"/>
          <p:cNvSpPr/>
          <p:nvPr/>
        </p:nvSpPr>
        <p:spPr>
          <a:xfrm>
            <a:off x="2590560" y="5790960"/>
            <a:ext cx="1338480" cy="39852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C0504D"/>
                </a:solidFill>
                <a:effectLst/>
                <a:uFillTx/>
                <a:latin typeface="Times New Roman"/>
              </a:rPr>
              <a:t>Databases</a:t>
            </a:r>
            <a:endParaRPr lang="en-IN" sz="2000" b="0" u="none" strike="noStrike">
              <a:solidFill>
                <a:srgbClr val="000000"/>
              </a:solidFill>
              <a:effectLst/>
              <a:uFillTx/>
              <a:latin typeface="Arial"/>
            </a:endParaRPr>
          </a:p>
        </p:txBody>
      </p:sp>
      <p:sp>
        <p:nvSpPr>
          <p:cNvPr id="39" name="Line 23"/>
          <p:cNvSpPr/>
          <p:nvPr/>
        </p:nvSpPr>
        <p:spPr>
          <a:xfrm>
            <a:off x="2743200" y="4952880"/>
            <a:ext cx="0" cy="53352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40" name="Rectangle 24"/>
          <p:cNvSpPr/>
          <p:nvPr/>
        </p:nvSpPr>
        <p:spPr>
          <a:xfrm>
            <a:off x="2590560" y="4343400"/>
            <a:ext cx="3505320" cy="685800"/>
          </a:xfrm>
          <a:prstGeom prst="rect">
            <a:avLst/>
          </a:prstGeom>
          <a:solidFill>
            <a:srgbClr val="4F81BD"/>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41" name="Text Box 25"/>
          <p:cNvSpPr/>
          <p:nvPr/>
        </p:nvSpPr>
        <p:spPr>
          <a:xfrm>
            <a:off x="3124080" y="4343400"/>
            <a:ext cx="2666880" cy="752040"/>
          </a:xfrm>
          <a:prstGeom prst="rect">
            <a:avLst/>
          </a:prstGeom>
          <a:noFill/>
          <a:ln w="38160">
            <a:noFill/>
          </a:ln>
        </p:spPr>
        <p:style>
          <a:lnRef idx="0"/>
          <a:fillRef idx="0"/>
          <a:effectRef idx="0"/>
          <a:fontRef idx="minor"/>
        </p:style>
        <p:txBody>
          <a:bodyPr lIns="90000" tIns="46800" rIns="90000" bIns="46800" anchor="t">
            <a:spAutoFit/>
          </a:bodyPr>
          <a:p>
            <a:pPr>
              <a:lnSpc>
                <a:spcPct val="90000"/>
              </a:lnSpc>
              <a:spcBef>
                <a:spcPts val="1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Database or data warehouse server</a:t>
            </a:r>
            <a:endParaRPr lang="en-IN" sz="2400" b="0" u="none" strike="noStrike">
              <a:solidFill>
                <a:srgbClr val="000000"/>
              </a:solidFill>
              <a:effectLst/>
              <a:uFillTx/>
              <a:latin typeface="Arial"/>
            </a:endParaRPr>
          </a:p>
        </p:txBody>
      </p:sp>
      <p:sp>
        <p:nvSpPr>
          <p:cNvPr id="42" name="Rectangle 26"/>
          <p:cNvSpPr/>
          <p:nvPr/>
        </p:nvSpPr>
        <p:spPr>
          <a:xfrm>
            <a:off x="2514600" y="3504960"/>
            <a:ext cx="3504960" cy="533520"/>
          </a:xfrm>
          <a:prstGeom prst="rect">
            <a:avLst/>
          </a:prstGeom>
          <a:solidFill>
            <a:srgbClr val="4F81BD"/>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Data mining engine</a:t>
            </a:r>
            <a:endParaRPr lang="en-IN" sz="2800" b="0" u="none" strike="noStrike">
              <a:solidFill>
                <a:srgbClr val="000000"/>
              </a:solidFill>
              <a:effectLst/>
              <a:uFillTx/>
              <a:latin typeface="Arial"/>
            </a:endParaRPr>
          </a:p>
        </p:txBody>
      </p:sp>
      <p:sp>
        <p:nvSpPr>
          <p:cNvPr id="43" name="Rectangle 27"/>
          <p:cNvSpPr/>
          <p:nvPr/>
        </p:nvSpPr>
        <p:spPr>
          <a:xfrm>
            <a:off x="2590560" y="2666880"/>
            <a:ext cx="3505320" cy="609480"/>
          </a:xfrm>
          <a:prstGeom prst="rect">
            <a:avLst/>
          </a:prstGeom>
          <a:solidFill>
            <a:srgbClr val="4F81BD"/>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Pattern evaluation</a:t>
            </a:r>
            <a:endParaRPr lang="en-IN" sz="2800" b="0" u="none" strike="noStrike">
              <a:solidFill>
                <a:srgbClr val="000000"/>
              </a:solidFill>
              <a:effectLst/>
              <a:uFillTx/>
              <a:latin typeface="Arial"/>
            </a:endParaRPr>
          </a:p>
        </p:txBody>
      </p:sp>
      <p:sp>
        <p:nvSpPr>
          <p:cNvPr id="44" name="Rectangle 28"/>
          <p:cNvSpPr/>
          <p:nvPr/>
        </p:nvSpPr>
        <p:spPr>
          <a:xfrm>
            <a:off x="2514600" y="1752480"/>
            <a:ext cx="3657600" cy="609480"/>
          </a:xfrm>
          <a:prstGeom prst="rect">
            <a:avLst/>
          </a:prstGeom>
          <a:solidFill>
            <a:srgbClr val="4F81BD"/>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Graphical user interface</a:t>
            </a:r>
            <a:endParaRPr lang="en-IN" sz="2400" b="0" u="none" strike="noStrike">
              <a:solidFill>
                <a:srgbClr val="000000"/>
              </a:solidFill>
              <a:effectLst/>
              <a:uFillTx/>
              <a:latin typeface="Arial"/>
            </a:endParaRPr>
          </a:p>
        </p:txBody>
      </p:sp>
      <p:sp>
        <p:nvSpPr>
          <p:cNvPr id="45" name="Line 29"/>
          <p:cNvSpPr/>
          <p:nvPr/>
        </p:nvSpPr>
        <p:spPr>
          <a:xfrm>
            <a:off x="3352680" y="2361960"/>
            <a:ext cx="0" cy="30492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46" name="Line 30"/>
          <p:cNvSpPr/>
          <p:nvPr/>
        </p:nvSpPr>
        <p:spPr>
          <a:xfrm>
            <a:off x="3276360" y="1447560"/>
            <a:ext cx="0" cy="30492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47" name="Line 31"/>
          <p:cNvSpPr/>
          <p:nvPr/>
        </p:nvSpPr>
        <p:spPr>
          <a:xfrm>
            <a:off x="5333760" y="2361960"/>
            <a:ext cx="0" cy="30492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48" name="Line 32"/>
          <p:cNvSpPr/>
          <p:nvPr/>
        </p:nvSpPr>
        <p:spPr>
          <a:xfrm>
            <a:off x="5257800" y="1447560"/>
            <a:ext cx="0" cy="30492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ctr">
            <a:noAutofit/>
          </a:bodyPr>
          <a:p>
            <a:endParaRPr lang="en-IN" sz="1800" b="0" u="none" strike="noStrike">
              <a:solidFill>
                <a:srgbClr val="000000"/>
              </a:solidFill>
              <a:effectLst/>
              <a:uFillTx/>
              <a:latin typeface="Arial"/>
            </a:endParaRPr>
          </a:p>
        </p:txBody>
      </p:sp>
      <p:sp>
        <p:nvSpPr>
          <p:cNvPr id="49" name="Line 33"/>
          <p:cNvSpPr/>
          <p:nvPr/>
        </p:nvSpPr>
        <p:spPr>
          <a:xfrm>
            <a:off x="6095880" y="2971800"/>
            <a:ext cx="1066680" cy="380880"/>
          </a:xfrm>
          <a:prstGeom prst="line">
            <a:avLst/>
          </a:prstGeom>
          <a:ln w="37800">
            <a:solidFill>
              <a:srgbClr val="000000"/>
            </a:solidFill>
            <a:miter/>
            <a:tailEnd len="med" type="triangle" w="med"/>
          </a:ln>
        </p:spPr>
        <p:style>
          <a:lnRef idx="0"/>
          <a:fillRef idx="0"/>
          <a:effectRef idx="0"/>
          <a:fontRef idx="minor"/>
        </p:style>
        <p:txBody>
          <a:bodyPr lIns="90000" tIns="46800" rIns="90000" bIns="46800" anchor="t">
            <a:noAutofit/>
          </a:bodyPr>
          <a:p>
            <a:endParaRPr lang="en-IN" sz="1800" b="0" u="none" strike="noStrike">
              <a:solidFill>
                <a:srgbClr val="000000"/>
              </a:solidFill>
              <a:effectLst/>
              <a:uFillTx/>
              <a:latin typeface="Arial"/>
            </a:endParaRPr>
          </a:p>
        </p:txBody>
      </p:sp>
      <p:sp>
        <p:nvSpPr>
          <p:cNvPr id="50" name="Line 34"/>
          <p:cNvSpPr/>
          <p:nvPr/>
        </p:nvSpPr>
        <p:spPr>
          <a:xfrm>
            <a:off x="6172200" y="3200400"/>
            <a:ext cx="990360" cy="380880"/>
          </a:xfrm>
          <a:prstGeom prst="line">
            <a:avLst/>
          </a:prstGeom>
          <a:ln w="37800">
            <a:solidFill>
              <a:srgbClr val="000000"/>
            </a:solidFill>
            <a:miter/>
            <a:headEnd len="med" type="triangle" w="med"/>
          </a:ln>
        </p:spPr>
        <p:style>
          <a:lnRef idx="0"/>
          <a:fillRef idx="0"/>
          <a:effectRef idx="0"/>
          <a:fontRef idx="minor"/>
        </p:style>
        <p:txBody>
          <a:bodyPr lIns="90000" tIns="46800" rIns="90000" bIns="46800" anchor="t">
            <a:noAutofit/>
          </a:bodyPr>
          <a:p>
            <a:endParaRPr lang="en-IN" sz="1800" b="0" u="none" strike="noStrike">
              <a:solidFill>
                <a:srgbClr val="000000"/>
              </a:solidFill>
              <a:effectLst/>
              <a:uFillTx/>
              <a:latin typeface="Arial"/>
            </a:endParaRPr>
          </a:p>
        </p:txBody>
      </p:sp>
      <p:sp>
        <p:nvSpPr>
          <p:cNvPr id="51" name="Rectangle 35"/>
          <p:cNvSpPr/>
          <p:nvPr/>
        </p:nvSpPr>
        <p:spPr>
          <a:xfrm>
            <a:off x="7162560" y="3124080"/>
            <a:ext cx="914400" cy="838080"/>
          </a:xfrm>
          <a:prstGeom prst="rect">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52" name="Oval 36"/>
          <p:cNvSpPr/>
          <p:nvPr/>
        </p:nvSpPr>
        <p:spPr>
          <a:xfrm>
            <a:off x="7162560" y="2971800"/>
            <a:ext cx="914400" cy="38088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53" name="Oval 37"/>
          <p:cNvSpPr/>
          <p:nvPr/>
        </p:nvSpPr>
        <p:spPr>
          <a:xfrm>
            <a:off x="7162560" y="3809880"/>
            <a:ext cx="914400" cy="380880"/>
          </a:xfrm>
          <a:prstGeom prst="ellipse">
            <a:avLst/>
          </a:prstGeom>
          <a:solidFill>
            <a:srgbClr val="00CC66"/>
          </a:solidFill>
          <a:ln w="1260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Arial"/>
            </a:endParaRPr>
          </a:p>
        </p:txBody>
      </p:sp>
      <p:sp>
        <p:nvSpPr>
          <p:cNvPr id="54" name="Text Box 38"/>
          <p:cNvSpPr/>
          <p:nvPr/>
        </p:nvSpPr>
        <p:spPr>
          <a:xfrm>
            <a:off x="6553080" y="4114800"/>
            <a:ext cx="2590920" cy="459360"/>
          </a:xfrm>
          <a:prstGeom prst="rect">
            <a:avLst/>
          </a:prstGeom>
          <a:noFill/>
          <a:ln w="3816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Knowledge-base</a:t>
            </a:r>
            <a:endParaRPr lang="en-IN" sz="2400" b="0" u="none" strike="noStrike">
              <a:solidFill>
                <a:srgbClr val="000000"/>
              </a:solidFill>
              <a:effectLst/>
              <a:uFillTx/>
              <a:latin typeface="Arial"/>
            </a:endParaRPr>
          </a:p>
        </p:txBody>
      </p:sp>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itle 1"/>
          <p:cNvSpPr/>
          <p:nvPr/>
        </p:nvSpPr>
        <p:spPr>
          <a:xfrm>
            <a:off x="75960" y="0"/>
            <a:ext cx="7340760" cy="761760"/>
          </a:xfrm>
          <a:prstGeom prst="rect">
            <a:avLst/>
          </a:prstGeom>
          <a:noFill/>
          <a:ln w="38160">
            <a:noFill/>
          </a:ln>
        </p:spPr>
        <p:style>
          <a:lnRef idx="0"/>
          <a:fillRef idx="0"/>
          <a:effectRef idx="0"/>
          <a:fontRef idx="minor"/>
        </p:style>
        <p:txBody>
          <a:bodyPr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000000"/>
                </a:solidFill>
                <a:effectLst/>
                <a:uFillTx/>
                <a:latin typeface="Arial"/>
                <a:ea typeface="Arial"/>
              </a:rPr>
              <a:t>DM – Architecture </a:t>
            </a:r>
            <a:r>
              <a:rPr lang="en-US" sz="2200" b="0" u="none" strike="noStrike">
                <a:solidFill>
                  <a:srgbClr val="000000"/>
                </a:solidFill>
                <a:effectLst/>
                <a:uFillTx/>
                <a:latin typeface="Arial"/>
                <a:ea typeface="Arial"/>
              </a:rPr>
              <a:t>(Major Components)</a:t>
            </a:r>
            <a:endParaRPr lang="en-IN" sz="2200" b="0" u="none" strike="noStrike">
              <a:solidFill>
                <a:srgbClr val="000000"/>
              </a:solidFill>
              <a:effectLst/>
              <a:uFillTx/>
              <a:latin typeface="Arial"/>
            </a:endParaRPr>
          </a:p>
        </p:txBody>
      </p:sp>
      <p:sp>
        <p:nvSpPr>
          <p:cNvPr id="56" name="Rectangle 6"/>
          <p:cNvSpPr/>
          <p:nvPr/>
        </p:nvSpPr>
        <p:spPr>
          <a:xfrm>
            <a:off x="380880" y="761760"/>
            <a:ext cx="9448920" cy="6305760"/>
          </a:xfrm>
          <a:prstGeom prst="rect">
            <a:avLst/>
          </a:prstGeom>
          <a:noFill/>
          <a:ln w="38160">
            <a:noFill/>
          </a:ln>
        </p:spPr>
        <p:style>
          <a:lnRef idx="0"/>
          <a:fillRef idx="0"/>
          <a:effectRef idx="0"/>
          <a:fontRef idx="minor"/>
        </p:style>
        <p:txBody>
          <a:bodyPr lIns="90000" tIns="46800" rIns="90000" bIns="46800" anchor="t">
            <a:spAutoFit/>
          </a:bodyPr>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Information repository</a:t>
            </a:r>
            <a:endParaRPr lang="en-IN" sz="2400" b="0" u="none" strike="noStrike">
              <a:solidFill>
                <a:srgbClr val="000000"/>
              </a:solidFill>
              <a:effectLst/>
              <a:uFillTx/>
              <a:latin typeface="Arial"/>
            </a:endParaRPr>
          </a:p>
          <a:p>
            <a:pPr marL="914400" lvl="2">
              <a:lnSpc>
                <a:spcPct val="100000"/>
              </a:lnSpc>
              <a:tabLst>
                <a:tab pos="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Set of databases , spread sheets or any kind repositories</a:t>
            </a: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Cleaning &amp; Integration steps performed on data</a:t>
            </a:r>
            <a:endParaRPr lang="en-IN" sz="2400" b="0" u="none" strike="noStrike">
              <a:solidFill>
                <a:srgbClr val="000000"/>
              </a:solidFill>
              <a:effectLst/>
              <a:uFillTx/>
              <a:latin typeface="Arial"/>
            </a:endParaRPr>
          </a:p>
          <a:p>
            <a:pPr marL="914400" lvl="2">
              <a:lnSpc>
                <a:spcPct val="100000"/>
              </a:lnSpc>
              <a:tabLst>
                <a:tab pos="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DB/Data warehouse server</a:t>
            </a:r>
            <a:endParaRPr lang="en-IN" sz="2400" b="0" u="none" strike="noStrike">
              <a:solidFill>
                <a:srgbClr val="000000"/>
              </a:solidFill>
              <a:effectLst/>
              <a:uFillTx/>
              <a:latin typeface="Arial"/>
            </a:endParaRPr>
          </a:p>
          <a:p>
            <a:pPr marL="914400" lvl="2">
              <a:lnSpc>
                <a:spcPct val="100000"/>
              </a:lnSpc>
              <a:tabLst>
                <a:tab pos="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marL="914400" lvl="2">
              <a:lnSpc>
                <a:spcPct val="100000"/>
              </a:lnSpc>
              <a:tabLst>
                <a:tab pos="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Fetching the relevant data based on mining request</a:t>
            </a:r>
            <a:endParaRPr lang="en-IN" sz="2400" b="0" u="none" strike="noStrike">
              <a:solidFill>
                <a:srgbClr val="000000"/>
              </a:solidFill>
              <a:effectLst/>
              <a:uFillTx/>
              <a:latin typeface="Arial"/>
            </a:endParaRPr>
          </a:p>
          <a:p>
            <a:pPr marL="914400" lvl="2">
              <a:lnSpc>
                <a:spcPct val="100000"/>
              </a:lnSpc>
              <a:tabLst>
                <a:tab pos="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Knowledge base</a:t>
            </a: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Domain knowledge to guide the search/ evaluate the interestingness of resulting patterns</a:t>
            </a: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Knowledge can include concept hierarchies</a:t>
            </a:r>
            <a:endParaRPr lang="en-IN" sz="2400" b="0" u="none" strike="noStrike">
              <a:solidFill>
                <a:srgbClr val="000000"/>
              </a:solidFill>
              <a:effectLst/>
              <a:uFillTx/>
              <a:latin typeface="Arial"/>
            </a:endParaRPr>
          </a:p>
          <a:p>
            <a:pPr marL="457200" lvl="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 organize attribute values into different level of abstraction</a:t>
            </a:r>
            <a:endParaRPr lang="en-IN" sz="2400" b="0" u="none" strike="noStrike">
              <a:solidFill>
                <a:srgbClr val="000000"/>
              </a:solidFill>
              <a:effectLst/>
              <a:uFillTx/>
              <a:latin typeface="Arial"/>
            </a:endParaRPr>
          </a:p>
          <a:p>
            <a:pPr marL="914400" lvl="2">
              <a:lnSpc>
                <a:spcPct val="100000"/>
              </a:lnSpc>
              <a:tabLst>
                <a:tab pos="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	</a:t>
            </a:r>
            <a:r>
              <a:rPr lang="en-US" sz="2400" b="0" u="none" strike="noStrike">
                <a:solidFill>
                  <a:srgbClr val="000000"/>
                </a:solidFill>
                <a:effectLst/>
                <a:uFillTx/>
                <a:latin typeface="Arial"/>
              </a:rPr>
              <a:t>	</a:t>
            </a:r>
            <a:r>
              <a:rPr lang="en-US" sz="2400" b="0" u="none" strike="noStrike">
                <a:solidFill>
                  <a:srgbClr val="000000"/>
                </a:solidFill>
                <a:effectLst/>
                <a:uFillTx/>
                <a:latin typeface="Arial"/>
              </a:rPr>
              <a:t>	</a:t>
            </a:r>
            <a:r>
              <a:rPr lang="en-US" sz="2400" b="0" u="none" strike="noStrike">
                <a:solidFill>
                  <a:srgbClr val="000000"/>
                </a:solidFill>
                <a:effectLst/>
                <a:uFillTx/>
                <a:latin typeface="Arial"/>
              </a:rPr>
              <a:t>	</a:t>
            </a:r>
            <a:r>
              <a:rPr lang="en-US" sz="2400" b="0" u="none" strike="noStrike">
                <a:solidFill>
                  <a:srgbClr val="000000"/>
                </a:solidFill>
                <a:effectLst/>
                <a:uFillTx/>
                <a:latin typeface="Arial"/>
              </a:rPr>
              <a:t>	</a:t>
            </a:r>
            <a:r>
              <a:rPr lang="en-US" sz="2400" b="0" u="none" strike="noStrike">
                <a:solidFill>
                  <a:srgbClr val="000000"/>
                </a:solidFill>
                <a:effectLst/>
                <a:uFillTx/>
                <a:latin typeface="Arial"/>
              </a:rPr>
              <a:t>	</a:t>
            </a:r>
            <a:r>
              <a:rPr lang="en-US" sz="2000" b="0" u="none" strike="noStrike">
                <a:solidFill>
                  <a:srgbClr val="000000"/>
                </a:solidFill>
                <a:effectLst/>
                <a:uFillTx/>
                <a:latin typeface="Arial"/>
              </a:rPr>
              <a:t>	</a:t>
            </a:r>
            <a:r>
              <a:rPr lang="en-US" sz="2000" b="0" u="none" strike="noStrike">
                <a:solidFill>
                  <a:srgbClr val="000000"/>
                </a:solidFill>
                <a:effectLst/>
                <a:uFillTx/>
                <a:latin typeface="Arial"/>
              </a:rPr>
              <a:t>	</a:t>
            </a:r>
            <a:r>
              <a:rPr lang="en-US" sz="2000" b="0" u="none" strike="noStrike">
                <a:solidFill>
                  <a:srgbClr val="000000"/>
                </a:solidFill>
                <a:effectLst/>
                <a:uFillTx/>
                <a:latin typeface="Arial"/>
              </a:rPr>
              <a:t>	</a:t>
            </a:r>
            <a:r>
              <a:rPr lang="en-US" sz="2000" b="0" u="none" strike="noStrike">
                <a:solidFill>
                  <a:srgbClr val="000000"/>
                </a:solidFill>
                <a:effectLst/>
                <a:uFillTx/>
                <a:latin typeface="Arial"/>
              </a:rPr>
              <a:t>	</a:t>
            </a:r>
            <a:r>
              <a:rPr lang="en-US" sz="2000" b="0" u="none" strike="noStrike">
                <a:solidFill>
                  <a:srgbClr val="000000"/>
                </a:solidFill>
                <a:effectLst/>
                <a:uFillTx/>
                <a:latin typeface="Arial"/>
              </a:rPr>
              <a:t>	</a:t>
            </a:r>
            <a:r>
              <a:rPr lang="en-US" sz="1800" b="0" u="none" strike="noStrike">
                <a:solidFill>
                  <a:srgbClr val="000000"/>
                </a:solidFill>
                <a:effectLst/>
                <a:uFillTx/>
                <a:latin typeface="Arial"/>
              </a:rPr>
              <a:t>	</a:t>
            </a:r>
            <a:r>
              <a:rPr lang="en-US" sz="1800" b="0" u="none" strike="noStrike">
                <a:solidFill>
                  <a:srgbClr val="000000"/>
                </a:solidFill>
                <a:effectLst/>
                <a:uFillTx/>
                <a:latin typeface="Arial"/>
              </a:rPr>
              <a:t>	</a:t>
            </a:r>
            <a:r>
              <a:rPr lang="en-US" sz="1800" b="0" u="none" strike="noStrike">
                <a:solidFill>
                  <a:srgbClr val="000000"/>
                </a:solidFill>
                <a:effectLst/>
                <a:uFillTx/>
                <a:latin typeface="Arial"/>
              </a:rPr>
              <a:t>	</a:t>
            </a:r>
            <a:endParaRPr lang="en-IN" sz="1800" b="0" u="none" strike="noStrike">
              <a:solidFill>
                <a:srgbClr val="000000"/>
              </a:solidFill>
              <a:effectLst/>
              <a:uFillTx/>
              <a:latin typeface="Arial"/>
            </a:endParaRPr>
          </a:p>
        </p:txBody>
      </p:sp>
      <p:sp>
        <p:nvSpPr>
          <p:cNvPr id="57" name="Rectangle 4"/>
          <p:cNvSpPr/>
          <p:nvPr/>
        </p:nvSpPr>
        <p:spPr>
          <a:xfrm>
            <a:off x="8006400" y="152280"/>
            <a:ext cx="955800" cy="368280"/>
          </a:xfrm>
          <a:prstGeom prst="rect">
            <a:avLst/>
          </a:prstGeom>
          <a:noFill/>
          <a:ln w="3816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Arial"/>
              </a:rPr>
              <a:t>Cont…,</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Rectangle 4"/>
          <p:cNvSpPr/>
          <p:nvPr/>
        </p:nvSpPr>
        <p:spPr>
          <a:xfrm>
            <a:off x="304560" y="685800"/>
            <a:ext cx="8686800" cy="5940360"/>
          </a:xfrm>
          <a:prstGeom prst="rect">
            <a:avLst/>
          </a:prstGeom>
          <a:noFill/>
          <a:ln w="38160">
            <a:noFill/>
          </a:ln>
        </p:spPr>
        <p:style>
          <a:lnRef idx="0"/>
          <a:fillRef idx="0"/>
          <a:effectRef idx="0"/>
          <a:fontRef idx="minor"/>
        </p:style>
        <p:txBody>
          <a:bodyPr lIns="90000" tIns="46800" rIns="90000" bIns="46800" anchor="t">
            <a:spAutoFit/>
          </a:bodyPr>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Data mining engine (consists functional modules for tasks</a:t>
            </a: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marL="914400" lvl="2">
              <a:lnSpc>
                <a:spcPct val="100000"/>
              </a:lnSpc>
              <a:buClr>
                <a:srgbClr val="000000"/>
              </a:buClr>
              <a:buFont typeface="Arial"/>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Classification</a:t>
            </a:r>
            <a:endParaRPr lang="en-IN" sz="2400" b="0" u="none" strike="noStrike">
              <a:solidFill>
                <a:srgbClr val="000000"/>
              </a:solidFill>
              <a:effectLst/>
              <a:uFillTx/>
              <a:latin typeface="Arial"/>
            </a:endParaRPr>
          </a:p>
          <a:p>
            <a:pPr marL="914400" lvl="2">
              <a:lnSpc>
                <a:spcPct val="100000"/>
              </a:lnSpc>
              <a:buClr>
                <a:srgbClr val="000000"/>
              </a:buClr>
              <a:buFont typeface="Arial"/>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Characterization</a:t>
            </a:r>
            <a:endParaRPr lang="en-IN" sz="2400" b="0" u="none" strike="noStrike">
              <a:solidFill>
                <a:srgbClr val="000000"/>
              </a:solidFill>
              <a:effectLst/>
              <a:uFillTx/>
              <a:latin typeface="Arial"/>
            </a:endParaRPr>
          </a:p>
          <a:p>
            <a:pPr marL="914400" lvl="2">
              <a:lnSpc>
                <a:spcPct val="100000"/>
              </a:lnSpc>
              <a:buClr>
                <a:srgbClr val="000000"/>
              </a:buClr>
              <a:buFont typeface="Arial"/>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Association and correlation</a:t>
            </a:r>
            <a:endParaRPr lang="en-IN" sz="2400" b="0" u="none" strike="noStrike">
              <a:solidFill>
                <a:srgbClr val="000000"/>
              </a:solidFill>
              <a:effectLst/>
              <a:uFillTx/>
              <a:latin typeface="Arial"/>
            </a:endParaRPr>
          </a:p>
          <a:p>
            <a:pPr marL="914400" lvl="2">
              <a:lnSpc>
                <a:spcPct val="100000"/>
              </a:lnSpc>
              <a:buClr>
                <a:srgbClr val="000000"/>
              </a:buClr>
              <a:buFont typeface="Arial"/>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Prediction, outlier analysis, evolution analysis</a:t>
            </a:r>
            <a:endParaRPr lang="en-IN" sz="2400" b="0" u="none" strike="noStrike">
              <a:solidFill>
                <a:srgbClr val="000000"/>
              </a:solidFill>
              <a:effectLst/>
              <a:uFillTx/>
              <a:latin typeface="Arial"/>
            </a:endParaRPr>
          </a:p>
          <a:p>
            <a:pPr marL="914400" lvl="2">
              <a:lnSpc>
                <a:spcPct val="100000"/>
              </a:lnSpc>
              <a:buClr>
                <a:srgbClr val="000000"/>
              </a:buClr>
              <a:buFont typeface="Arial"/>
              <a:buChar char="•"/>
              <a:tabLst>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Pattern evaluation module</a:t>
            </a: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Pattern interestingness measurement</a:t>
            </a: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Using thresholds to filter out the patterns</a:t>
            </a: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User Interface</a:t>
            </a:r>
            <a:endParaRPr lang="en-IN" sz="2400" b="0" u="none" strike="noStrike">
              <a:solidFill>
                <a:srgbClr val="000000"/>
              </a:solidFill>
              <a:effectLst/>
              <a:uFillTx/>
              <a:latin typeface="Arial"/>
            </a:endParaRPr>
          </a:p>
          <a:p>
            <a:pPr>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interface to user with the DM system with help of </a:t>
            </a:r>
            <a:endParaRPr lang="en-IN" sz="2400" b="0" u="none" strike="noStrike">
              <a:solidFill>
                <a:srgbClr val="000000"/>
              </a:solidFill>
              <a:effectLst/>
              <a:uFillTx/>
              <a:latin typeface="Arial"/>
            </a:endParaRPr>
          </a:p>
          <a:p>
            <a:pPr marL="457200" lvl="1">
              <a:lnSpc>
                <a:spcPct val="1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rPr>
              <a:t>   query, provides intermediate results to focus search</a:t>
            </a:r>
            <a:endParaRPr lang="en-IN" sz="2400" b="0" u="none" strike="noStrike">
              <a:solidFill>
                <a:srgbClr val="000000"/>
              </a:solidFill>
              <a:effectLst/>
              <a:uFillTx/>
              <a:latin typeface="Arial"/>
            </a:endParaRPr>
          </a:p>
        </p:txBody>
      </p:sp>
      <p:sp>
        <p:nvSpPr>
          <p:cNvPr id="59" name="Title 1"/>
          <p:cNvSpPr/>
          <p:nvPr/>
        </p:nvSpPr>
        <p:spPr>
          <a:xfrm>
            <a:off x="-457200" y="0"/>
            <a:ext cx="7340400" cy="761760"/>
          </a:xfrm>
          <a:prstGeom prst="rect">
            <a:avLst/>
          </a:prstGeom>
          <a:noFill/>
          <a:ln w="38160">
            <a:noFill/>
          </a:ln>
        </p:spPr>
        <p:style>
          <a:lnRef idx="0"/>
          <a:fillRef idx="0"/>
          <a:effectRef idx="0"/>
          <a:fontRef idx="minor"/>
        </p:style>
        <p:txBody>
          <a:bodyPr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Arial"/>
                <a:ea typeface="Arial"/>
              </a:rPr>
              <a:t>DM – Architecture </a:t>
            </a:r>
            <a:r>
              <a:rPr lang="en-US" sz="2200" b="0" u="none" strike="noStrike">
                <a:solidFill>
                  <a:srgbClr val="000000"/>
                </a:solidFill>
                <a:effectLst/>
                <a:uFillTx/>
                <a:latin typeface="Calibri"/>
              </a:rPr>
              <a:t>(Major Components)</a:t>
            </a:r>
            <a:endParaRPr lang="en-IN"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685800" y="2130120"/>
            <a:ext cx="7772400" cy="147024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a:rPr>
              <a:t>Data Mining Architecture</a:t>
            </a:r>
            <a:endParaRPr lang="en-IN" sz="4400" b="0" u="none" strike="noStrike">
              <a:solidFill>
                <a:srgbClr val="000000"/>
              </a:solidFill>
              <a:effectLst/>
              <a:uFillTx/>
              <a:latin typeface="Calibri"/>
            </a:endParaRPr>
          </a:p>
        </p:txBody>
      </p:sp>
      <p:sp>
        <p:nvSpPr>
          <p:cNvPr id="61" name="PlaceHolder 2"/>
          <p:cNvSpPr>
            <a:spLocks noGrp="1"/>
          </p:cNvSpPr>
          <p:nvPr>
            <p:ph type="subTitle"/>
          </p:nvPr>
        </p:nvSpPr>
        <p:spPr>
          <a:xfrm>
            <a:off x="1371600" y="3886200"/>
            <a:ext cx="6400800" cy="1752480"/>
          </a:xfrm>
          <a:prstGeom prst="rect">
            <a:avLst/>
          </a:prstGeom>
          <a:noFill/>
          <a:ln w="0">
            <a:noFill/>
          </a:ln>
        </p:spPr>
        <p:txBody>
          <a:bodyPr lIns="91440" tIns="45720" rIns="91440" bIns="45720" anchor="t">
            <a:noAutofit/>
          </a:bodyPr>
          <a:p>
            <a:pPr indent="0" algn="ctr">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Coupling</a:t>
            </a:r>
            <a:endParaRPr lang="en-IN" sz="32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960"/>
            <a:ext cx="822960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Coupling</a:t>
            </a:r>
            <a:endParaRPr lang="en-IN" sz="3200" b="0" u="none" strike="noStrike">
              <a:solidFill>
                <a:srgbClr val="000000"/>
              </a:solidFill>
              <a:effectLst/>
              <a:uFillTx/>
              <a:latin typeface="Calibri"/>
            </a:endParaRPr>
          </a:p>
        </p:txBody>
      </p:sp>
      <p:sp>
        <p:nvSpPr>
          <p:cNvPr id="63" name=""/>
          <p:cNvSpPr txBox="1"/>
          <p:nvPr/>
        </p:nvSpPr>
        <p:spPr>
          <a:xfrm>
            <a:off x="457200" y="1600200"/>
            <a:ext cx="8229600" cy="4525920"/>
          </a:xfrm>
          <a:prstGeom prst="rect">
            <a:avLst/>
          </a:prstGeom>
          <a:noFill/>
          <a:ln w="0">
            <a:noFill/>
          </a:ln>
        </p:spPr>
        <p:txBody>
          <a:bodyPr anchor="t">
            <a:normAutofit/>
          </a:bodyPr>
          <a:p>
            <a:pPr marL="320040" indent="-320040">
              <a:lnSpc>
                <a:spcPct val="15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Coupling –how DM system integrate with DB/ DW</a:t>
            </a:r>
            <a:endParaRPr lang="en-IN" sz="2400" b="0" u="none" strike="noStrike">
              <a:solidFill>
                <a:srgbClr val="000000"/>
              </a:solidFill>
              <a:effectLst/>
              <a:uFillTx/>
              <a:latin typeface="Calibri"/>
            </a:endParaRPr>
          </a:p>
          <a:p>
            <a:pPr marL="181440" indent="-181440">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20040" indent="-320040">
              <a:lnSpc>
                <a:spcPct val="15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DMS stand-alone/embedded in application - no integration with DB or DW - </a:t>
            </a:r>
            <a:r>
              <a:rPr lang="en-US" sz="2400" b="0" u="none" strike="noStrike">
                <a:solidFill>
                  <a:srgbClr val="558ED5"/>
                </a:solidFill>
                <a:effectLst/>
                <a:uFillTx/>
                <a:latin typeface="Arial"/>
                <a:ea typeface="Arial"/>
              </a:rPr>
              <a:t>no coupling </a:t>
            </a:r>
            <a:endParaRPr lang="en-IN" sz="2400" b="0" u="none" strike="noStrike">
              <a:solidFill>
                <a:srgbClr val="000000"/>
              </a:solidFill>
              <a:effectLst/>
              <a:uFillTx/>
              <a:latin typeface="Calibri"/>
            </a:endParaRPr>
          </a:p>
          <a:p>
            <a:pPr marL="181440" indent="-181440">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20040" indent="-320040">
              <a:lnSpc>
                <a:spcPct val="15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However DM system works in an environment that requires to communicate with DB or DW requires some integration schemes</a:t>
            </a:r>
            <a:endParaRPr lang="en-IN" sz="2400" b="0" u="none" strike="noStrike">
              <a:solidFill>
                <a:srgbClr val="000000"/>
              </a:solidFill>
              <a:effectLst/>
              <a:uFillTx/>
              <a:latin typeface="Calibri"/>
            </a:endParaRPr>
          </a:p>
          <a:p>
            <a:pPr marL="320040" indent="-320040">
              <a:lnSpc>
                <a:spcPct val="15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181440" indent="-181440">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960"/>
            <a:ext cx="822960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Data Mining Integration schemes</a:t>
            </a:r>
            <a:endParaRPr lang="en-IN" sz="3200" b="0" u="none" strike="noStrike">
              <a:solidFill>
                <a:srgbClr val="000000"/>
              </a:solidFill>
              <a:effectLst/>
              <a:uFillTx/>
              <a:latin typeface="Calibri"/>
            </a:endParaRPr>
          </a:p>
        </p:txBody>
      </p:sp>
      <p:sp>
        <p:nvSpPr>
          <p:cNvPr id="65" name=""/>
          <p:cNvSpPr txBox="1"/>
          <p:nvPr/>
        </p:nvSpPr>
        <p:spPr>
          <a:xfrm>
            <a:off x="457200" y="1600200"/>
            <a:ext cx="8229600" cy="4525920"/>
          </a:xfrm>
          <a:prstGeom prst="rect">
            <a:avLst/>
          </a:prstGeom>
          <a:noFill/>
          <a:ln w="0">
            <a:noFill/>
          </a:ln>
        </p:spPr>
        <p:txBody>
          <a:bodyPr anchor="t">
            <a:normAutofit/>
          </a:bodyPr>
          <a:p>
            <a:pPr marL="343080" indent="-34308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Possible integration schemes for the DM system to communicate with DB or DW is</a:t>
            </a:r>
            <a:endParaRPr lang="en-IN" sz="2800" b="0" u="none" strike="noStrike">
              <a:solidFill>
                <a:srgbClr val="000000"/>
              </a:solidFill>
              <a:effectLst/>
              <a:uFillTx/>
              <a:latin typeface="Calibri"/>
            </a:endParaRPr>
          </a:p>
          <a:p>
            <a:pPr marL="743040" lvl="1" indent="-285840">
              <a:lnSpc>
                <a:spcPct val="2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No coupling</a:t>
            </a:r>
            <a:endParaRPr lang="en-IN" sz="2800" b="0" u="none" strike="noStrike">
              <a:solidFill>
                <a:srgbClr val="000000"/>
              </a:solidFill>
              <a:effectLst/>
              <a:uFillTx/>
              <a:latin typeface="Calibri"/>
            </a:endParaRPr>
          </a:p>
          <a:p>
            <a:pPr marL="743040" lvl="1" indent="-285840">
              <a:lnSpc>
                <a:spcPct val="2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Loose coupling</a:t>
            </a:r>
            <a:endParaRPr lang="en-IN" sz="2800" b="0" u="none" strike="noStrike">
              <a:solidFill>
                <a:srgbClr val="000000"/>
              </a:solidFill>
              <a:effectLst/>
              <a:uFillTx/>
              <a:latin typeface="Calibri"/>
            </a:endParaRPr>
          </a:p>
          <a:p>
            <a:pPr marL="743040" lvl="1" indent="-285840">
              <a:lnSpc>
                <a:spcPct val="2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Semi tight coupling</a:t>
            </a:r>
            <a:endParaRPr lang="en-IN" sz="2800" b="0" u="none" strike="noStrike">
              <a:solidFill>
                <a:srgbClr val="000000"/>
              </a:solidFill>
              <a:effectLst/>
              <a:uFillTx/>
              <a:latin typeface="Calibri"/>
            </a:endParaRPr>
          </a:p>
          <a:p>
            <a:pPr marL="743040" lvl="1" indent="-285840">
              <a:lnSpc>
                <a:spcPct val="200000"/>
              </a:lnSpc>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Tight coupling</a:t>
            </a:r>
            <a:endParaRPr lang="en-IN" sz="28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304920" y="-152280"/>
            <a:ext cx="8229240" cy="11426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No coupling</a:t>
            </a:r>
            <a:endParaRPr lang="en-IN" sz="3200" b="0" u="none" strike="noStrike">
              <a:solidFill>
                <a:srgbClr val="000000"/>
              </a:solidFill>
              <a:effectLst/>
              <a:uFillTx/>
              <a:latin typeface="Calibri"/>
            </a:endParaRPr>
          </a:p>
        </p:txBody>
      </p:sp>
      <p:sp>
        <p:nvSpPr>
          <p:cNvPr id="67" name=""/>
          <p:cNvSpPr txBox="1"/>
          <p:nvPr/>
        </p:nvSpPr>
        <p:spPr>
          <a:xfrm>
            <a:off x="304560" y="838080"/>
            <a:ext cx="8229600" cy="6019920"/>
          </a:xfrm>
          <a:prstGeom prst="rect">
            <a:avLst/>
          </a:prstGeom>
          <a:noFill/>
          <a:ln w="0">
            <a:noFill/>
          </a:ln>
        </p:spPr>
        <p:txBody>
          <a:bodyPr anchor="t">
            <a:normAutofit/>
          </a:bodyPr>
          <a:p>
            <a:pPr marL="318960" indent="-318960">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No coupling-</a:t>
            </a:r>
            <a:endParaRPr lang="en-IN" sz="3200" b="0" u="none" strike="noStrike">
              <a:solidFill>
                <a:srgbClr val="000000"/>
              </a:solidFill>
              <a:effectLst/>
              <a:uFillTx/>
              <a:latin typeface="Calibri"/>
            </a:endParaRPr>
          </a:p>
          <a:p>
            <a:pPr marL="318960" indent="-318960">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 DM system will not utilize any function of a DB or DW. It fetch data from the file and store the mining results in another file</a:t>
            </a:r>
            <a:endParaRPr lang="en-IN" sz="3200" b="0" u="none" strike="noStrike">
              <a:solidFill>
                <a:srgbClr val="000000"/>
              </a:solidFill>
              <a:effectLst/>
              <a:uFillTx/>
              <a:latin typeface="Calibri"/>
            </a:endParaRPr>
          </a:p>
          <a:p>
            <a:pPr marL="318960" indent="-318960">
              <a:spcBef>
                <a:spcPts val="799"/>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3200" b="0" u="none" strike="noStrike">
              <a:solidFill>
                <a:srgbClr val="000000"/>
              </a:solidFill>
              <a:effectLst/>
              <a:uFillTx/>
              <a:latin typeface="Calibri"/>
            </a:endParaRPr>
          </a:p>
          <a:p>
            <a:pPr marL="318960" indent="-318960">
              <a:spcBef>
                <a:spcPts val="799"/>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Simple but suffers from several drawbacks</a:t>
            </a:r>
            <a:endParaRPr lang="en-IN" sz="3200" b="0" u="none" strike="noStrike">
              <a:solidFill>
                <a:srgbClr val="000000"/>
              </a:solidFill>
              <a:effectLst/>
              <a:uFillTx/>
              <a:latin typeface="Calibri"/>
            </a:endParaRPr>
          </a:p>
          <a:p>
            <a:pPr marL="318960" indent="-318960">
              <a:spcBef>
                <a:spcPts val="726"/>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900" b="0" u="none" strike="noStrike">
              <a:solidFill>
                <a:srgbClr val="000000"/>
              </a:solidFill>
              <a:effectLst/>
              <a:uFillTx/>
              <a:latin typeface="Calibri"/>
            </a:endParaRPr>
          </a:p>
          <a:p>
            <a:pPr marL="639720" lvl="1" indent="-272880">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18960" indent="-318960">
              <a:spcBef>
                <a:spcPts val="799"/>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No coupling represents poor design</a:t>
            </a:r>
            <a:endParaRPr lang="en-IN" sz="3200" b="0" u="none" strike="noStrike">
              <a:solidFill>
                <a:srgbClr val="000000"/>
              </a:solidFill>
              <a:effectLst/>
              <a:uFillTx/>
              <a:latin typeface="Calibri"/>
            </a:endParaRPr>
          </a:p>
          <a:p>
            <a:pPr marL="639720" lvl="1" indent="-272880">
              <a:spcBef>
                <a:spcPts val="601"/>
              </a:spcBef>
              <a:buClr>
                <a:srgbClr val="000000"/>
              </a:buClr>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639720" lvl="1" indent="-272880">
              <a:spcBef>
                <a:spcPts val="601"/>
              </a:spcBef>
              <a:buClr>
                <a:srgbClr val="000000"/>
              </a:buClr>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960"/>
            <a:ext cx="82296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000000"/>
                </a:solidFill>
                <a:effectLst/>
                <a:uFillTx/>
                <a:latin typeface="Calibri"/>
              </a:rPr>
              <a:t>Loose coupling</a:t>
            </a:r>
            <a:endParaRPr lang="en-IN" sz="4000" b="0" u="none" strike="noStrike">
              <a:solidFill>
                <a:srgbClr val="000000"/>
              </a:solidFill>
              <a:effectLst/>
              <a:uFillTx/>
              <a:latin typeface="Calibri"/>
            </a:endParaRPr>
          </a:p>
        </p:txBody>
      </p:sp>
      <p:sp>
        <p:nvSpPr>
          <p:cNvPr id="69" name=""/>
          <p:cNvSpPr txBox="1"/>
          <p:nvPr/>
        </p:nvSpPr>
        <p:spPr>
          <a:xfrm>
            <a:off x="457200" y="1600200"/>
            <a:ext cx="8229600" cy="4525920"/>
          </a:xfrm>
          <a:prstGeom prst="rect">
            <a:avLst/>
          </a:prstGeom>
          <a:noFill/>
          <a:ln w="0">
            <a:noFill/>
          </a:ln>
        </p:spPr>
        <p:txBody>
          <a:bodyPr anchor="t">
            <a:normAutofit/>
          </a:bodyPr>
          <a:p>
            <a:pPr marL="342720" indent="-342720" algn="just">
              <a:lnSpc>
                <a:spcPct val="13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00000"/>
                </a:solidFill>
                <a:effectLst/>
                <a:uFillTx/>
                <a:latin typeface="Calibri"/>
              </a:rPr>
              <a:t>Loose coupling - DM system will use some facilities of a DB or DW system, fetching data from a data repository managed by these systems, perform data mining , stores the result in either a file or a place in DB or DW. </a:t>
            </a:r>
            <a:endParaRPr lang="en-IN" sz="2200" b="0" u="none" strike="noStrike">
              <a:solidFill>
                <a:srgbClr val="000000"/>
              </a:solidFill>
              <a:effectLst/>
              <a:uFillTx/>
              <a:latin typeface="Calibri"/>
            </a:endParaRPr>
          </a:p>
          <a:p>
            <a:pPr marL="342720" indent="-342720" algn="just">
              <a:lnSpc>
                <a:spcPct val="13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200" b="0" u="none" strike="noStrike">
              <a:solidFill>
                <a:srgbClr val="000000"/>
              </a:solidFill>
              <a:effectLst/>
              <a:uFillTx/>
              <a:latin typeface="Calibri"/>
            </a:endParaRPr>
          </a:p>
          <a:p>
            <a:pPr marL="342720" indent="-342720">
              <a:lnSpc>
                <a:spcPct val="13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00000"/>
                </a:solidFill>
                <a:effectLst/>
                <a:uFillTx/>
                <a:latin typeface="Calibri"/>
              </a:rPr>
              <a:t>Better than no coupling because it use some of the features of DB or DW.</a:t>
            </a:r>
            <a:endParaRPr lang="en-IN" sz="2200" b="0" u="none" strike="noStrike">
              <a:solidFill>
                <a:srgbClr val="000000"/>
              </a:solidFill>
              <a:effectLst/>
              <a:uFillTx/>
              <a:latin typeface="Calibri"/>
            </a:endParaRPr>
          </a:p>
          <a:p>
            <a:pPr marL="194400" indent="-194400">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200" b="0" u="none" strike="noStrike">
              <a:solidFill>
                <a:srgbClr val="000000"/>
              </a:solidFill>
              <a:effectLst/>
              <a:uFillTx/>
              <a:latin typeface="Calibri"/>
            </a:endParaRPr>
          </a:p>
          <a:p>
            <a:pPr marL="342720" indent="-342720">
              <a:lnSpc>
                <a:spcPct val="13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u="none" strike="noStrike">
                <a:solidFill>
                  <a:srgbClr val="000000"/>
                </a:solidFill>
                <a:effectLst/>
                <a:uFillTx/>
                <a:latin typeface="Calibri"/>
              </a:rPr>
              <a:t>Difficult to achieve high scalability and performance with large data sets.</a:t>
            </a:r>
            <a:endParaRPr lang="en-IN" sz="22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152640" y="-360"/>
            <a:ext cx="464796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Semi Tight Coupling</a:t>
            </a:r>
            <a:endParaRPr lang="en-IN" sz="3200" b="0" u="none" strike="noStrike">
              <a:solidFill>
                <a:srgbClr val="000000"/>
              </a:solidFill>
              <a:effectLst/>
              <a:uFillTx/>
              <a:latin typeface="Calibri"/>
            </a:endParaRPr>
          </a:p>
        </p:txBody>
      </p:sp>
      <p:sp>
        <p:nvSpPr>
          <p:cNvPr id="71" name=""/>
          <p:cNvSpPr txBox="1"/>
          <p:nvPr/>
        </p:nvSpPr>
        <p:spPr>
          <a:xfrm>
            <a:off x="228600" y="914040"/>
            <a:ext cx="8229600" cy="6019560"/>
          </a:xfrm>
          <a:prstGeom prst="rect">
            <a:avLst/>
          </a:prstGeom>
          <a:noFill/>
          <a:ln w="0">
            <a:noFill/>
          </a:ln>
        </p:spPr>
        <p:txBody>
          <a:bodyPr anchor="t">
            <a:normAutofit/>
          </a:bodyPr>
          <a:p>
            <a:pPr marL="320040" indent="-320040">
              <a:lnSpc>
                <a:spcPct val="14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rPr>
              <a:t>Semi tight coupling – b</a:t>
            </a:r>
            <a:endParaRPr lang="en-IN" sz="2400" b="0" u="none" strike="noStrike">
              <a:solidFill>
                <a:srgbClr val="000000"/>
              </a:solidFill>
              <a:effectLst/>
              <a:uFillTx/>
              <a:latin typeface="Calibri"/>
            </a:endParaRPr>
          </a:p>
          <a:p>
            <a:pPr marL="181440" indent="-181440">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rPr>
              <a:t>      besides linking a DM system to a DB/DW system, efficient implementations of a few essential DM primitives can be provided in the DB/DW system</a:t>
            </a:r>
            <a:endParaRPr lang="en-IN" sz="2400" b="0" u="none" strike="noStrike">
              <a:solidFill>
                <a:srgbClr val="000000"/>
              </a:solidFill>
              <a:effectLst/>
              <a:uFillTx/>
              <a:latin typeface="Calibri"/>
            </a:endParaRPr>
          </a:p>
          <a:p>
            <a:pPr marL="320040" indent="-320040">
              <a:lnSpc>
                <a:spcPct val="14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20040" indent="-320040">
              <a:lnSpc>
                <a:spcPct val="14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rPr>
              <a:t> primitives -sorting, indexing, aggregation, multi-way join, and pre computation of some statistical measures, such as sum, count, max </a:t>
            </a:r>
            <a:endParaRPr lang="en-IN" sz="2400" b="0" u="none" strike="noStrike">
              <a:solidFill>
                <a:srgbClr val="000000"/>
              </a:solidFill>
              <a:effectLst/>
              <a:uFillTx/>
              <a:latin typeface="Calibri"/>
            </a:endParaRPr>
          </a:p>
          <a:p>
            <a:pPr marL="320040" indent="-320040">
              <a:lnSpc>
                <a:spcPct val="14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181440" indent="-181440">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rPr>
              <a:t>    frequently used intermediate mining results can be pre computed and stored in the DB/DW system.</a:t>
            </a: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152640" y="380520"/>
            <a:ext cx="419076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Arial"/>
                <a:ea typeface="Arial"/>
              </a:rPr>
              <a:t>Tight coupling</a:t>
            </a:r>
            <a:endParaRPr lang="en-IN" sz="3200" b="0" u="none" strike="noStrike">
              <a:solidFill>
                <a:srgbClr val="000000"/>
              </a:solidFill>
              <a:effectLst/>
              <a:uFillTx/>
              <a:latin typeface="Calibri"/>
            </a:endParaRPr>
          </a:p>
        </p:txBody>
      </p:sp>
      <p:sp>
        <p:nvSpPr>
          <p:cNvPr id="73" name=""/>
          <p:cNvSpPr txBox="1"/>
          <p:nvPr/>
        </p:nvSpPr>
        <p:spPr>
          <a:xfrm>
            <a:off x="457200" y="1600200"/>
            <a:ext cx="8229600" cy="4525920"/>
          </a:xfrm>
          <a:prstGeom prst="rect">
            <a:avLst/>
          </a:prstGeom>
          <a:noFill/>
          <a:ln w="0">
            <a:noFill/>
          </a:ln>
        </p:spPr>
        <p:txBody>
          <a:bodyPr anchor="t">
            <a:normAutofit/>
          </a:bodyPr>
          <a:p>
            <a:pPr marL="343080" indent="-343080">
              <a:lnSpc>
                <a:spcPct val="100000"/>
              </a:lnSpc>
              <a:spcBef>
                <a:spcPts val="601"/>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Tight coupling means that a DM system is smoothly integrated into the DB/DW system</a:t>
            </a:r>
            <a:endParaRPr lang="en-IN" sz="2400" b="0" u="none" strike="noStrike">
              <a:solidFill>
                <a:srgbClr val="000000"/>
              </a:solidFill>
              <a:effectLst/>
              <a:uFillTx/>
              <a:latin typeface="Calibri"/>
            </a:endParaRPr>
          </a:p>
          <a:p>
            <a:pPr marL="343080" indent="-343080">
              <a:lnSpc>
                <a:spcPct val="100000"/>
              </a:lnSpc>
              <a:spcBef>
                <a:spcPts val="601"/>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100000"/>
              </a:lnSpc>
              <a:spcBef>
                <a:spcPts val="601"/>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Provide  a uniform information processing environment</a:t>
            </a:r>
            <a:endParaRPr lang="en-IN" sz="2400" b="0" u="none" strike="noStrike">
              <a:solidFill>
                <a:srgbClr val="000000"/>
              </a:solidFill>
              <a:effectLst/>
              <a:uFillTx/>
              <a:latin typeface="Calibri"/>
            </a:endParaRPr>
          </a:p>
          <a:p>
            <a:pPr marL="343080" indent="-343080">
              <a:lnSpc>
                <a:spcPct val="100000"/>
              </a:lnSpc>
              <a:spcBef>
                <a:spcPts val="601"/>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100000"/>
              </a:lnSpc>
              <a:spcBef>
                <a:spcPts val="601"/>
              </a:spcBef>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Highly desirable</a:t>
            </a: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52640" y="304200"/>
            <a:ext cx="929628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3200"/>
            </a:br>
            <a:r>
              <a:rPr lang="en-US" sz="3200" b="0" u="none" strike="noStrike">
                <a:solidFill>
                  <a:srgbClr val="000000"/>
                </a:solidFill>
                <a:effectLst/>
                <a:uFillTx/>
                <a:latin typeface="Arial"/>
                <a:ea typeface="Arial"/>
              </a:rPr>
              <a:t>DM- ON WHAT KIND OF DATA</a:t>
            </a:r>
            <a:br>
              <a:rPr sz="3200"/>
            </a:br>
            <a:br>
              <a:rPr sz="3200"/>
            </a:br>
            <a:r>
              <a:rPr lang="en-US" sz="2400" b="0" u="none" strike="noStrike">
                <a:solidFill>
                  <a:srgbClr val="000000"/>
                </a:solidFill>
                <a:effectLst/>
                <a:uFillTx/>
                <a:latin typeface="Arial"/>
                <a:ea typeface="Arial"/>
              </a:rPr>
              <a:t>Challenges and techniques of mining different for each repository system</a:t>
            </a:r>
            <a:endParaRPr lang="en-IN" sz="2400" b="0" u="none" strike="noStrike">
              <a:solidFill>
                <a:srgbClr val="000000"/>
              </a:solidFill>
              <a:effectLst/>
              <a:uFillTx/>
              <a:latin typeface="Calibri"/>
            </a:endParaRPr>
          </a:p>
        </p:txBody>
      </p:sp>
      <p:sp>
        <p:nvSpPr>
          <p:cNvPr id="75" name=""/>
          <p:cNvSpPr txBox="1"/>
          <p:nvPr/>
        </p:nvSpPr>
        <p:spPr>
          <a:xfrm>
            <a:off x="457200" y="1981080"/>
            <a:ext cx="8229600" cy="4525920"/>
          </a:xfrm>
          <a:prstGeom prst="rect">
            <a:avLst/>
          </a:prstGeom>
          <a:noFill/>
          <a:ln w="0">
            <a:noFill/>
          </a:ln>
        </p:spPr>
        <p:txBody>
          <a:bodyPr anchor="t">
            <a:normAutofit/>
          </a:bodyPr>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00000"/>
                </a:solidFill>
                <a:effectLst/>
                <a:uFillTx/>
                <a:latin typeface="Arial"/>
                <a:ea typeface="Arial"/>
              </a:rPr>
              <a:t>RELATIONAL </a:t>
            </a:r>
            <a:endParaRPr lang="en-IN" sz="32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00000"/>
                </a:solidFill>
                <a:effectLst/>
                <a:uFillTx/>
                <a:latin typeface="Arial"/>
                <a:ea typeface="Arial"/>
              </a:rPr>
              <a:t>TRANSCATIONAL</a:t>
            </a:r>
            <a:endParaRPr lang="en-IN" sz="32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00000"/>
                </a:solidFill>
                <a:effectLst/>
                <a:uFillTx/>
                <a:latin typeface="Arial"/>
                <a:ea typeface="Arial"/>
              </a:rPr>
              <a:t>DATA WARHOUSE</a:t>
            </a:r>
            <a:endParaRPr lang="en-IN" sz="32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00000"/>
                </a:solidFill>
                <a:effectLst/>
                <a:uFillTx/>
                <a:latin typeface="Arial"/>
                <a:ea typeface="Arial"/>
              </a:rPr>
              <a:t>ADVANCED DATA</a:t>
            </a:r>
            <a:endParaRPr lang="en-IN" sz="32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Picture 2" descr="C:\Users\system01\Desktop\DM CLASSPPTJUNE16\Unit 1\Chapter 1  Introduction to Data Mining_files\image006.gif"/>
          <p:cNvPicPr/>
          <p:nvPr/>
        </p:nvPicPr>
        <p:blipFill>
          <a:blip r:embed="rId1"/>
          <a:stretch/>
        </p:blipFill>
        <p:spPr>
          <a:xfrm>
            <a:off x="304560" y="1904760"/>
            <a:ext cx="8653680" cy="3473640"/>
          </a:xfrm>
          <a:prstGeom prst="rect">
            <a:avLst/>
          </a:prstGeom>
          <a:noFill/>
          <a:ln w="38160">
            <a:noFill/>
          </a:ln>
        </p:spPr>
      </p:pic>
      <p:sp>
        <p:nvSpPr>
          <p:cNvPr id="77" name="Rectangle 3"/>
          <p:cNvSpPr/>
          <p:nvPr/>
        </p:nvSpPr>
        <p:spPr>
          <a:xfrm>
            <a:off x="462240" y="533160"/>
            <a:ext cx="3160080" cy="946440"/>
          </a:xfrm>
          <a:prstGeom prst="rect">
            <a:avLst/>
          </a:prstGeom>
          <a:noFill/>
          <a:ln w="38160">
            <a:noFill/>
          </a:ln>
        </p:spPr>
        <p:style>
          <a:lnRef idx="0"/>
          <a:fillRef idx="0"/>
          <a:effectRef idx="0"/>
          <a:fontRef idx="minor"/>
        </p:style>
        <p:txBody>
          <a:bodyPr wrap="none" lIns="90000" tIns="46800" rIns="90000" bIns="46800" anchor="t">
            <a:spAutoFit/>
          </a:bodyPr>
          <a:p>
            <a:pPr>
              <a:lnSpc>
                <a:spcPct val="2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Arial"/>
                <a:ea typeface="Arial"/>
              </a:rPr>
              <a:t>TRANSCATIONAL</a:t>
            </a:r>
            <a:endParaRPr lang="en-IN"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Picture 2" descr="C:\Users\system01\Desktop\DM CLASSPPTJUNE16\Unit 1\Chapter 1  Introduction to Data Mining_files\image003.gif"/>
          <p:cNvPicPr/>
          <p:nvPr/>
        </p:nvPicPr>
        <p:blipFill>
          <a:blip r:embed="rId1"/>
          <a:stretch/>
        </p:blipFill>
        <p:spPr>
          <a:xfrm>
            <a:off x="304560" y="1447560"/>
            <a:ext cx="8944200" cy="4876920"/>
          </a:xfrm>
          <a:prstGeom prst="rect">
            <a:avLst/>
          </a:prstGeom>
          <a:noFill/>
          <a:ln w="38160">
            <a:noFill/>
          </a:ln>
        </p:spPr>
      </p:pic>
      <p:sp>
        <p:nvSpPr>
          <p:cNvPr id="79" name="Rectangle 2"/>
          <p:cNvSpPr/>
          <p:nvPr/>
        </p:nvSpPr>
        <p:spPr>
          <a:xfrm>
            <a:off x="380880" y="228600"/>
            <a:ext cx="4572000" cy="1798920"/>
          </a:xfrm>
          <a:prstGeom prst="rect">
            <a:avLst/>
          </a:prstGeom>
          <a:noFill/>
          <a:ln w="38160">
            <a:noFill/>
          </a:ln>
        </p:spPr>
        <p:style>
          <a:lnRef idx="0"/>
          <a:fillRef idx="0"/>
          <a:effectRef idx="0"/>
          <a:fontRef idx="minor"/>
        </p:style>
        <p:txBody>
          <a:bodyPr lIns="90000" tIns="46800" rIns="90000" bIns="46800" anchor="t">
            <a:spAutoFit/>
          </a:bodyPr>
          <a:p>
            <a:pPr>
              <a:lnSpc>
                <a:spcPct val="2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Arial"/>
                <a:ea typeface="Arial"/>
              </a:rPr>
              <a:t>RELATIONAL</a:t>
            </a:r>
            <a:endParaRPr lang="en-IN" sz="2800" b="0" u="none" strike="noStrike">
              <a:solidFill>
                <a:srgbClr val="000000"/>
              </a:solidFill>
              <a:effectLst/>
              <a:uFillTx/>
              <a:latin typeface="Arial"/>
            </a:endParaRPr>
          </a:p>
          <a:p>
            <a:pPr>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52640" y="-360"/>
            <a:ext cx="929628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3200"/>
            </a:br>
            <a:r>
              <a:rPr lang="en-US" sz="3200" b="0" u="none" strike="noStrike">
                <a:solidFill>
                  <a:srgbClr val="000000"/>
                </a:solidFill>
                <a:effectLst/>
                <a:uFillTx/>
                <a:latin typeface="Arial"/>
                <a:ea typeface="Arial"/>
              </a:rPr>
              <a:t>DM- ON WHAT KIND OF DATA</a:t>
            </a:r>
            <a:br>
              <a:rPr sz="3200"/>
            </a:br>
            <a:endParaRPr lang="en-IN" sz="3200" b="0" u="none" strike="noStrike">
              <a:solidFill>
                <a:srgbClr val="000000"/>
              </a:solidFill>
              <a:effectLst/>
              <a:uFillTx/>
              <a:latin typeface="Calibri"/>
            </a:endParaRPr>
          </a:p>
        </p:txBody>
      </p:sp>
      <p:sp>
        <p:nvSpPr>
          <p:cNvPr id="81" name=""/>
          <p:cNvSpPr txBox="1"/>
          <p:nvPr/>
        </p:nvSpPr>
        <p:spPr>
          <a:xfrm>
            <a:off x="228240" y="457200"/>
            <a:ext cx="8915400" cy="4525920"/>
          </a:xfrm>
          <a:prstGeom prst="rect">
            <a:avLst/>
          </a:prstGeom>
          <a:noFill/>
          <a:ln w="0">
            <a:noFill/>
          </a:ln>
        </p:spPr>
        <p:txBody>
          <a:bodyPr anchor="t">
            <a:normAutofit fontScale="85000" lnSpcReduction="19999"/>
          </a:bodyPr>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00000"/>
                </a:solidFill>
                <a:effectLst/>
                <a:uFillTx/>
                <a:latin typeface="Arial"/>
                <a:ea typeface="Arial"/>
              </a:rPr>
              <a:t>RELATIONAL </a:t>
            </a:r>
            <a:endParaRPr lang="en-IN" sz="3200" b="0" u="none" strike="noStrike">
              <a:solidFill>
                <a:srgbClr val="000000"/>
              </a:solidFill>
              <a:effectLst/>
              <a:uFillTx/>
              <a:latin typeface="Calibri"/>
            </a:endParaRPr>
          </a:p>
          <a:p>
            <a:pPr marL="343080" indent="-343080">
              <a:lnSpc>
                <a:spcPct val="2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Arial"/>
                <a:ea typeface="Arial"/>
              </a:rPr>
              <a:t>To specify attributes to be included in the  query and constraints on attributes , a given query transformed to set of relational operations , join, selection, projection </a:t>
            </a:r>
            <a:endParaRPr lang="en-IN" sz="1800" b="0" u="none" strike="noStrike">
              <a:solidFill>
                <a:srgbClr val="000000"/>
              </a:solidFill>
              <a:effectLst/>
              <a:uFillTx/>
              <a:latin typeface="Calibri"/>
            </a:endParaRPr>
          </a:p>
          <a:p>
            <a:pPr marL="343080" indent="-343080">
              <a:lnSpc>
                <a:spcPct val="20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Arial"/>
                <a:ea typeface="Arial"/>
              </a:rPr>
              <a:t>Query  </a:t>
            </a:r>
            <a:r>
              <a:rPr lang="en-IN" sz="1800" b="0" u="sng" strike="noStrike">
                <a:solidFill>
                  <a:srgbClr val="000000"/>
                </a:solidFill>
                <a:effectLst/>
                <a:uFillTx/>
                <a:latin typeface="Arial"/>
                <a:ea typeface="Arial"/>
              </a:rPr>
              <a:t>list of all items that were sold in the last quarter   </a:t>
            </a:r>
            <a:endParaRPr lang="en-IN" sz="1800" b="0" u="none" strike="noStrike">
              <a:solidFill>
                <a:srgbClr val="000000"/>
              </a:solidFill>
              <a:effectLst/>
              <a:uFillTx/>
              <a:latin typeface="Calibri"/>
            </a:endParaRPr>
          </a:p>
          <a:p>
            <a:pPr marL="343080" indent="-343080">
              <a:lnSpc>
                <a:spcPct val="20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sng" strike="noStrike">
                <a:solidFill>
                  <a:srgbClr val="000000"/>
                </a:solidFill>
                <a:effectLst/>
                <a:uFillTx/>
                <a:latin typeface="Arial"/>
                <a:ea typeface="Arial"/>
              </a:rPr>
              <a:t>With aggregation function avg, count, maximum, minimum.  : total sales of the last month grouped by branch</a:t>
            </a:r>
            <a:endParaRPr lang="en-IN" sz="1800" b="0" u="none" strike="noStrike">
              <a:solidFill>
                <a:srgbClr val="000000"/>
              </a:solidFill>
              <a:effectLst/>
              <a:uFillTx/>
              <a:latin typeface="Calibri"/>
            </a:endParaRPr>
          </a:p>
          <a:p>
            <a:pPr marL="343080" indent="-343080">
              <a:lnSpc>
                <a:spcPct val="20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sng" strike="noStrike">
                <a:solidFill>
                  <a:srgbClr val="000000"/>
                </a:solidFill>
                <a:effectLst/>
                <a:uFillTx/>
                <a:latin typeface="Arial"/>
                <a:ea typeface="Arial"/>
              </a:rPr>
              <a:t>How many sales transaction occurred in the month of December</a:t>
            </a:r>
            <a:endParaRPr lang="en-IN" sz="1800" b="0" u="none" strike="noStrike">
              <a:solidFill>
                <a:srgbClr val="000000"/>
              </a:solidFill>
              <a:effectLst/>
              <a:uFillTx/>
              <a:latin typeface="Calibri"/>
            </a:endParaRPr>
          </a:p>
          <a:p>
            <a:pPr marL="343080" indent="-343080">
              <a:lnSpc>
                <a:spcPct val="20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sng" strike="noStrike">
                <a:solidFill>
                  <a:srgbClr val="000000"/>
                </a:solidFill>
                <a:effectLst/>
                <a:uFillTx/>
                <a:latin typeface="Arial"/>
                <a:ea typeface="Arial"/>
              </a:rPr>
              <a:t>Which sales person had the highest  amount of sales.</a:t>
            </a:r>
            <a:endParaRPr lang="en-IN" sz="1800" b="0" u="none" strike="noStrike">
              <a:solidFill>
                <a:srgbClr val="000000"/>
              </a:solidFill>
              <a:effectLst/>
              <a:uFillTx/>
              <a:latin typeface="Calibri"/>
            </a:endParaRPr>
          </a:p>
          <a:p>
            <a:pPr marL="343080" indent="-343080">
              <a:lnSpc>
                <a:spcPct val="2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Arial"/>
                <a:ea typeface="Arial"/>
              </a:rPr>
              <a:t>By DM search trends or data patterns : </a:t>
            </a:r>
            <a:r>
              <a:rPr lang="en-IN" sz="1800" b="0" u="sng" strike="noStrike">
                <a:solidFill>
                  <a:srgbClr val="000000"/>
                </a:solidFill>
                <a:effectLst/>
                <a:uFillTx/>
                <a:latin typeface="Arial"/>
                <a:ea typeface="Arial"/>
              </a:rPr>
              <a:t>anlayze customer data to predict the credit risk of new customers based on age, income, credit  information</a:t>
            </a:r>
            <a:endParaRPr lang="en-IN" sz="1800" b="0" u="none" strike="noStrike">
              <a:solidFill>
                <a:srgbClr val="000000"/>
              </a:solidFill>
              <a:effectLst/>
              <a:uFillTx/>
              <a:latin typeface="Calibri"/>
            </a:endParaRPr>
          </a:p>
          <a:p>
            <a:pPr marL="343080" indent="-343080">
              <a:lnSpc>
                <a:spcPct val="2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3200" b="0" u="none" strike="noStrike">
              <a:solidFill>
                <a:srgbClr val="000000"/>
              </a:solidFill>
              <a:effectLst/>
              <a:uFillTx/>
              <a:latin typeface="Calibri"/>
            </a:endParaRPr>
          </a:p>
          <a:p>
            <a:pPr marL="343080" indent="-343080">
              <a:lnSpc>
                <a:spcPct val="9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960"/>
            <a:ext cx="320040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Arial"/>
                <a:ea typeface="Arial"/>
              </a:rPr>
              <a:t>Data Warehouse </a:t>
            </a:r>
            <a:endParaRPr lang="en-IN" sz="2800" b="0" u="none" strike="noStrike">
              <a:solidFill>
                <a:srgbClr val="000000"/>
              </a:solidFill>
              <a:effectLst/>
              <a:uFillTx/>
              <a:latin typeface="Calibri"/>
            </a:endParaRPr>
          </a:p>
        </p:txBody>
      </p:sp>
      <p:pic>
        <p:nvPicPr>
          <p:cNvPr id="83" name="Picture 3"/>
          <p:cNvPicPr/>
          <p:nvPr/>
        </p:nvPicPr>
        <p:blipFill>
          <a:blip r:embed="rId1"/>
          <a:stretch/>
        </p:blipFill>
        <p:spPr>
          <a:xfrm>
            <a:off x="285480" y="2666880"/>
            <a:ext cx="8553600" cy="3935520"/>
          </a:xfrm>
          <a:prstGeom prst="rect">
            <a:avLst/>
          </a:prstGeom>
          <a:noFill/>
          <a:ln w="38160">
            <a:noFill/>
          </a:ln>
        </p:spPr>
      </p:pic>
      <p:sp>
        <p:nvSpPr>
          <p:cNvPr id="84" name="Rectangle 1"/>
          <p:cNvSpPr/>
          <p:nvPr/>
        </p:nvSpPr>
        <p:spPr>
          <a:xfrm>
            <a:off x="533160" y="1193760"/>
            <a:ext cx="7772400" cy="1117440"/>
          </a:xfrm>
          <a:prstGeom prst="rect">
            <a:avLst/>
          </a:prstGeom>
          <a:noFill/>
          <a:ln w="38160">
            <a:noFill/>
          </a:ln>
        </p:spPr>
        <p:style>
          <a:lnRef idx="0"/>
          <a:fillRef idx="0"/>
          <a:effectRef idx="0"/>
          <a:fontRef idx="minor"/>
        </p:style>
        <p:txBody>
          <a:bodyPr lIns="90000" tIns="46800" rIns="90000" bIns="46800" anchor="t">
            <a:spAutoFit/>
          </a:bodyPr>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Arial"/>
            </a:endParaRPr>
          </a:p>
          <a:p>
            <a:pP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Arial"/>
                <a:ea typeface="Arial"/>
              </a:rPr>
              <a:t>Data warehousing is defined as a process of centralized data management and retrieval.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Picture 2" descr="C:\Users\system01\Desktop\DM CLASSPPTJUNE16\Unit 1\Chapter 1  Introduction to Data Mining_files\image004.gif"/>
          <p:cNvPicPr/>
          <p:nvPr/>
        </p:nvPicPr>
        <p:blipFill>
          <a:blip r:embed="rId1"/>
          <a:stretch/>
        </p:blipFill>
        <p:spPr>
          <a:xfrm>
            <a:off x="838080" y="1600200"/>
            <a:ext cx="7296120" cy="4190760"/>
          </a:xfrm>
          <a:prstGeom prst="rect">
            <a:avLst/>
          </a:prstGeom>
          <a:noFill/>
          <a:ln w="38160">
            <a:noFill/>
          </a:ln>
        </p:spPr>
      </p:pic>
      <p:sp>
        <p:nvSpPr>
          <p:cNvPr id="86" name="Rectangle 2"/>
          <p:cNvSpPr/>
          <p:nvPr/>
        </p:nvSpPr>
        <p:spPr>
          <a:xfrm>
            <a:off x="844200" y="457200"/>
            <a:ext cx="1959480" cy="368280"/>
          </a:xfrm>
          <a:prstGeom prst="rect">
            <a:avLst/>
          </a:prstGeom>
          <a:noFill/>
          <a:ln w="3816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C00000"/>
                </a:solidFill>
                <a:effectLst/>
                <a:uFillTx/>
                <a:latin typeface="Arial"/>
                <a:ea typeface="Arial"/>
              </a:rPr>
              <a:t>Data Warehouse </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Picture 4" descr="C:\Users\system01\Desktop\DM CLASSPPTJUNE16\Unit 1\Chapter 1  Introduction to Data Mining_files\image005.gif"/>
          <p:cNvPicPr/>
          <p:nvPr/>
        </p:nvPicPr>
        <p:blipFill>
          <a:blip r:embed="rId1"/>
          <a:stretch/>
        </p:blipFill>
        <p:spPr>
          <a:xfrm>
            <a:off x="609480" y="1523880"/>
            <a:ext cx="8186760" cy="4419720"/>
          </a:xfrm>
          <a:prstGeom prst="rect">
            <a:avLst/>
          </a:prstGeom>
          <a:noFill/>
          <a:ln w="38160">
            <a:noFill/>
          </a:ln>
        </p:spPr>
      </p:pic>
      <p:sp>
        <p:nvSpPr>
          <p:cNvPr id="88" name="Rectangle 2"/>
          <p:cNvSpPr/>
          <p:nvPr/>
        </p:nvSpPr>
        <p:spPr>
          <a:xfrm>
            <a:off x="767880" y="304560"/>
            <a:ext cx="1959480" cy="368280"/>
          </a:xfrm>
          <a:prstGeom prst="rect">
            <a:avLst/>
          </a:prstGeom>
          <a:noFill/>
          <a:ln w="3816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C00000"/>
                </a:solidFill>
                <a:effectLst/>
                <a:uFillTx/>
                <a:latin typeface="Arial"/>
                <a:ea typeface="Arial"/>
              </a:rPr>
              <a:t>Data Warehouse </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152640" y="304200"/>
            <a:ext cx="9296280" cy="114300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3200"/>
            </a:br>
            <a:r>
              <a:rPr lang="en-US" sz="3200" b="0" u="none" strike="noStrike">
                <a:solidFill>
                  <a:srgbClr val="000000"/>
                </a:solidFill>
                <a:effectLst/>
                <a:uFillTx/>
                <a:latin typeface="Arial"/>
                <a:ea typeface="Arial"/>
              </a:rPr>
              <a:t>DM- ON WHAT KIND OF DATA</a:t>
            </a:r>
            <a:br>
              <a:rPr sz="3200"/>
            </a:br>
            <a:br>
              <a:rPr sz="3200"/>
            </a:br>
            <a:r>
              <a:rPr lang="en-US" sz="2400" b="0" u="none" strike="noStrike">
                <a:solidFill>
                  <a:srgbClr val="000000"/>
                </a:solidFill>
                <a:effectLst/>
                <a:uFillTx/>
                <a:latin typeface="Arial"/>
                <a:ea typeface="Arial"/>
              </a:rPr>
              <a:t>Challenges and techniques of mining different for each repository system</a:t>
            </a:r>
            <a:endParaRPr lang="en-IN" sz="2400" b="0" u="none" strike="noStrike">
              <a:solidFill>
                <a:srgbClr val="000000"/>
              </a:solidFill>
              <a:effectLst/>
              <a:uFillTx/>
              <a:latin typeface="Calibri"/>
            </a:endParaRPr>
          </a:p>
        </p:txBody>
      </p:sp>
      <p:sp>
        <p:nvSpPr>
          <p:cNvPr id="90" name=""/>
          <p:cNvSpPr txBox="1"/>
          <p:nvPr/>
        </p:nvSpPr>
        <p:spPr>
          <a:xfrm>
            <a:off x="457200" y="1981080"/>
            <a:ext cx="8229600" cy="4525920"/>
          </a:xfrm>
          <a:prstGeom prst="rect">
            <a:avLst/>
          </a:prstGeom>
          <a:noFill/>
          <a:ln w="0">
            <a:noFill/>
          </a:ln>
        </p:spPr>
        <p:txBody>
          <a:bodyPr anchor="t">
            <a:normAutofit/>
          </a:bodyPr>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C00000"/>
                </a:solidFill>
                <a:effectLst/>
                <a:uFillTx/>
                <a:latin typeface="Arial"/>
                <a:ea typeface="Arial"/>
              </a:rPr>
              <a:t>RELATIONAL -</a:t>
            </a:r>
            <a:r>
              <a:rPr lang="en-US" sz="1200" b="0" u="none" strike="noStrike">
                <a:solidFill>
                  <a:srgbClr val="C00000"/>
                </a:solidFill>
                <a:effectLst/>
                <a:uFillTx/>
                <a:latin typeface="Arial"/>
                <a:ea typeface="Arial"/>
              </a:rPr>
              <a:t> </a:t>
            </a:r>
            <a:r>
              <a:rPr lang="en-US" sz="1200" b="0" u="none" strike="noStrike">
                <a:solidFill>
                  <a:srgbClr val="000000"/>
                </a:solidFill>
                <a:effectLst/>
                <a:uFillTx/>
                <a:latin typeface="Arial"/>
                <a:ea typeface="Arial"/>
              </a:rPr>
              <a:t> SW manage and access the data and involve mechanisms for the definition of db structure, db storage, concurrent, shared  or distributed data access and for ensuring the consistency and security of the information stored despite system crashes / attempt at unauthorized access.</a:t>
            </a:r>
            <a:endParaRPr lang="en-IN" sz="1200" b="0" u="none" strike="noStrike">
              <a:solidFill>
                <a:srgbClr val="000000"/>
              </a:solidFill>
              <a:effectLst/>
              <a:uFillTx/>
              <a:latin typeface="Calibri"/>
            </a:endParaRPr>
          </a:p>
          <a:p>
            <a:pPr marL="343080" indent="-343080">
              <a:lnSpc>
                <a:spcPct val="200000"/>
              </a:lnSpc>
              <a:buClr>
                <a:srgbClr val="0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IN" sz="1200" b="0" u="none" strike="noStrike">
                <a:solidFill>
                  <a:srgbClr val="000000"/>
                </a:solidFill>
                <a:effectLst/>
                <a:uFillTx/>
                <a:latin typeface="Arial"/>
                <a:ea typeface="Arial"/>
              </a:rPr>
              <a:t>RDb -  TABEL, ATTRIBUTE (COL) , TUPLES (RECORD/ ROWS)-IDENTIFIED BY  A SET OF ATTRIBUTES – ER MODEL</a:t>
            </a:r>
            <a:endParaRPr lang="en-IN" sz="1200" b="0" u="none" strike="noStrike">
              <a:solidFill>
                <a:srgbClr val="000000"/>
              </a:solidFill>
              <a:effectLst/>
              <a:uFillTx/>
              <a:latin typeface="Calibri"/>
            </a:endParaRPr>
          </a:p>
          <a:p>
            <a:pPr marL="343080" indent="-343080">
              <a:lnSpc>
                <a:spcPct val="200000"/>
              </a:lnSpc>
              <a:buClr>
                <a:srgbClr val="C00000"/>
              </a:buClr>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32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a:p>
            <a:pPr marL="343080" indent="-343080">
              <a:lnSpc>
                <a:spcPct val="90000"/>
              </a:lnSpc>
              <a:spcBef>
                <a:spcPts val="6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0" y="-360"/>
            <a:ext cx="91440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Calibri"/>
              </a:rPr>
              <a:t>Data Mining: Advanced  Data? – with advancement of dbms</a:t>
            </a:r>
            <a:endParaRPr lang="en-IN" sz="3600" b="0" u="none" strike="noStrike">
              <a:solidFill>
                <a:srgbClr val="000000"/>
              </a:solidFill>
              <a:effectLst/>
              <a:uFillTx/>
              <a:latin typeface="Calibri"/>
            </a:endParaRPr>
          </a:p>
        </p:txBody>
      </p:sp>
      <p:sp>
        <p:nvSpPr>
          <p:cNvPr id="92" name=""/>
          <p:cNvSpPr txBox="1"/>
          <p:nvPr/>
        </p:nvSpPr>
        <p:spPr>
          <a:xfrm>
            <a:off x="228240" y="1218960"/>
            <a:ext cx="8915400" cy="4525920"/>
          </a:xfrm>
          <a:prstGeom prst="rect">
            <a:avLst/>
          </a:prstGeom>
          <a:noFill/>
          <a:ln w="0">
            <a:noFill/>
          </a:ln>
        </p:spPr>
        <p:txBody>
          <a:bodyPr anchor="t">
            <a:normAutofit fontScale="85000" lnSpcReduction="9999"/>
          </a:bodyPr>
          <a:p>
            <a:pPr marL="343080" indent="-343080">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Advanced DB and information systems emerged to address the requirements of new applications.</a:t>
            </a:r>
            <a:endParaRPr lang="en-IN" sz="3200" b="0" u="none" strike="noStrike">
              <a:solidFill>
                <a:srgbClr val="000000"/>
              </a:solidFill>
              <a:effectLst/>
              <a:uFillTx/>
              <a:latin typeface="Calibri"/>
            </a:endParaRPr>
          </a:p>
          <a:p>
            <a:pPr marL="743040" lvl="1" indent="-285840">
              <a:lnSpc>
                <a:spcPct val="150000"/>
              </a:lnSpc>
              <a:spcBef>
                <a:spcPts val="700"/>
              </a:spcBef>
              <a:buClr>
                <a:srgbClr val="C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Object-oriented and object-relational databases</a:t>
            </a:r>
            <a:endParaRPr lang="en-IN" sz="2800" b="0" u="none" strike="noStrike">
              <a:solidFill>
                <a:srgbClr val="000000"/>
              </a:solidFill>
              <a:effectLst/>
              <a:uFillTx/>
              <a:latin typeface="Calibri"/>
            </a:endParaRPr>
          </a:p>
          <a:p>
            <a:pPr marL="743040" lvl="1" indent="-285840">
              <a:lnSpc>
                <a:spcPct val="150000"/>
              </a:lnSpc>
              <a:spcBef>
                <a:spcPts val="700"/>
              </a:spcBef>
              <a:buClr>
                <a:srgbClr val="C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Spatial databases</a:t>
            </a:r>
            <a:endParaRPr lang="en-IN" sz="2800" b="0" u="none" strike="noStrike">
              <a:solidFill>
                <a:srgbClr val="000000"/>
              </a:solidFill>
              <a:effectLst/>
              <a:uFillTx/>
              <a:latin typeface="Calibri"/>
            </a:endParaRPr>
          </a:p>
          <a:p>
            <a:pPr marL="743040" lvl="1" indent="-285840">
              <a:lnSpc>
                <a:spcPct val="150000"/>
              </a:lnSpc>
              <a:spcBef>
                <a:spcPts val="700"/>
              </a:spcBef>
              <a:buClr>
                <a:srgbClr val="C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Time-series data and temporal data</a:t>
            </a:r>
            <a:endParaRPr lang="en-IN" sz="2800" b="0" u="none" strike="noStrike">
              <a:solidFill>
                <a:srgbClr val="000000"/>
              </a:solidFill>
              <a:effectLst/>
              <a:uFillTx/>
              <a:latin typeface="Calibri"/>
            </a:endParaRPr>
          </a:p>
          <a:p>
            <a:pPr marL="743040" lvl="1" indent="-285840">
              <a:lnSpc>
                <a:spcPct val="150000"/>
              </a:lnSpc>
              <a:spcBef>
                <a:spcPts val="700"/>
              </a:spcBef>
              <a:buClr>
                <a:srgbClr val="C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Text databases and multimedia databases</a:t>
            </a:r>
            <a:endParaRPr lang="en-IN" sz="2800" b="0" u="none" strike="noStrike">
              <a:solidFill>
                <a:srgbClr val="000000"/>
              </a:solidFill>
              <a:effectLst/>
              <a:uFillTx/>
              <a:latin typeface="Calibri"/>
            </a:endParaRPr>
          </a:p>
          <a:p>
            <a:pPr marL="743040" lvl="1" indent="-285840">
              <a:lnSpc>
                <a:spcPct val="150000"/>
              </a:lnSpc>
              <a:spcBef>
                <a:spcPts val="700"/>
              </a:spcBef>
              <a:buClr>
                <a:srgbClr val="C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Heterogeneous and legacy databases</a:t>
            </a:r>
            <a:endParaRPr lang="en-IN" sz="2800" b="0" u="none" strike="noStrike">
              <a:solidFill>
                <a:srgbClr val="000000"/>
              </a:solidFill>
              <a:effectLst/>
              <a:uFillTx/>
              <a:latin typeface="Calibri"/>
            </a:endParaRPr>
          </a:p>
          <a:p>
            <a:pPr marL="743040" lvl="1" indent="-285840">
              <a:lnSpc>
                <a:spcPct val="150000"/>
              </a:lnSpc>
              <a:spcBef>
                <a:spcPts val="700"/>
              </a:spcBef>
              <a:buClr>
                <a:srgbClr val="C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WWW</a:t>
            </a:r>
            <a:endParaRPr lang="en-IN" sz="2800" b="0" u="none" strike="noStrike">
              <a:solidFill>
                <a:srgbClr val="000000"/>
              </a:solidFill>
              <a:effectLst/>
              <a:uFillTx/>
              <a:latin typeface="Calibri"/>
            </a:endParaRPr>
          </a:p>
        </p:txBody>
      </p:sp>
      <p:sp>
        <p:nvSpPr>
          <p:cNvPr id="93" name="Footer Placeholder 5"/>
          <p:cNvSpPr/>
          <p:nvPr/>
        </p:nvSpPr>
        <p:spPr>
          <a:xfrm>
            <a:off x="6781680" y="6248160"/>
            <a:ext cx="1905120" cy="457200"/>
          </a:xfrm>
          <a:prstGeom prst="rect">
            <a:avLst/>
          </a:prstGeom>
          <a:noFill/>
          <a:ln w="38160">
            <a:noFill/>
          </a:ln>
        </p:spPr>
        <p:style>
          <a:lnRef idx="0"/>
          <a:fillRef idx="0"/>
          <a:effectRef idx="0"/>
          <a:fontRef idx="minor"/>
        </p:style>
        <p:txBody>
          <a:bodyPr lIns="90000" tIns="46800" rIns="90000" bIns="46800" anchor="ctr">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98989"/>
                </a:solidFill>
                <a:effectLst/>
                <a:uFillTx/>
                <a:latin typeface="Arial"/>
              </a:rPr>
              <a:t>Lecture-3 Data Mining: On What kind of data?</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0" y="-360"/>
            <a:ext cx="914400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Calibri"/>
              </a:rPr>
              <a:t>Data Mining: Advanced  Data? </a:t>
            </a:r>
            <a:endParaRPr lang="en-IN" sz="3600" b="0" u="none" strike="noStrike">
              <a:solidFill>
                <a:srgbClr val="000000"/>
              </a:solidFill>
              <a:effectLst/>
              <a:uFillTx/>
              <a:latin typeface="Calibri"/>
            </a:endParaRPr>
          </a:p>
        </p:txBody>
      </p:sp>
      <p:sp>
        <p:nvSpPr>
          <p:cNvPr id="95" name=""/>
          <p:cNvSpPr txBox="1"/>
          <p:nvPr/>
        </p:nvSpPr>
        <p:spPr>
          <a:xfrm>
            <a:off x="228240" y="914400"/>
            <a:ext cx="8915400" cy="4525920"/>
          </a:xfrm>
          <a:prstGeom prst="rect">
            <a:avLst/>
          </a:prstGeom>
          <a:noFill/>
          <a:ln w="0">
            <a:noFill/>
          </a:ln>
        </p:spPr>
        <p:txBody>
          <a:bodyPr anchor="t">
            <a:normAutofit fontScale="85000" lnSpcReduction="9999"/>
          </a:bodyPr>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Object-oriented and object-relational databases</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 complex objects  and structures, object relational db for most sophisticated DB concept of Object DB </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Entity – object eg. Employee, customer, items</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Encapusulation</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Messages</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Methods</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Inheritence</a:t>
            </a:r>
            <a:endParaRPr lang="en-IN" sz="2800" b="0" u="none" strike="noStrike">
              <a:solidFill>
                <a:srgbClr val="000000"/>
              </a:solidFill>
              <a:effectLst/>
              <a:uFillTx/>
              <a:latin typeface="Calibri"/>
            </a:endParaRPr>
          </a:p>
        </p:txBody>
      </p:sp>
      <p:sp>
        <p:nvSpPr>
          <p:cNvPr id="96" name="Footer Placeholder 5"/>
          <p:cNvSpPr/>
          <p:nvPr/>
        </p:nvSpPr>
        <p:spPr>
          <a:xfrm>
            <a:off x="6781680" y="6248160"/>
            <a:ext cx="1905120" cy="457200"/>
          </a:xfrm>
          <a:prstGeom prst="rect">
            <a:avLst/>
          </a:prstGeom>
          <a:noFill/>
          <a:ln w="38160">
            <a:noFill/>
          </a:ln>
        </p:spPr>
        <p:style>
          <a:lnRef idx="0"/>
          <a:fillRef idx="0"/>
          <a:effectRef idx="0"/>
          <a:fontRef idx="minor"/>
        </p:style>
        <p:txBody>
          <a:bodyPr lIns="90000" tIns="46800" rIns="90000" bIns="46800" anchor="ctr">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98989"/>
                </a:solidFill>
                <a:effectLst/>
                <a:uFillTx/>
                <a:latin typeface="Arial"/>
              </a:rPr>
              <a:t>Lecture-3 Data Mining: On What kind of data?</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0" y="-360"/>
            <a:ext cx="632448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Calibri"/>
              </a:rPr>
              <a:t>Data Mining: Advanced  Data? </a:t>
            </a:r>
            <a:endParaRPr lang="en-IN" sz="3600" b="0" u="none" strike="noStrike">
              <a:solidFill>
                <a:srgbClr val="000000"/>
              </a:solidFill>
              <a:effectLst/>
              <a:uFillTx/>
              <a:latin typeface="Calibri"/>
            </a:endParaRPr>
          </a:p>
        </p:txBody>
      </p:sp>
      <p:sp>
        <p:nvSpPr>
          <p:cNvPr id="98" name=""/>
          <p:cNvSpPr txBox="1"/>
          <p:nvPr/>
        </p:nvSpPr>
        <p:spPr>
          <a:xfrm>
            <a:off x="-381240" y="1295280"/>
            <a:ext cx="10210680" cy="4525920"/>
          </a:xfrm>
          <a:prstGeom prst="rect">
            <a:avLst/>
          </a:prstGeom>
          <a:noFill/>
          <a:ln w="0">
            <a:noFill/>
          </a:ln>
        </p:spPr>
        <p:txBody>
          <a:bodyPr anchor="t">
            <a:normAutofit fontScale="85000" lnSpcReduction="9999"/>
          </a:bodyPr>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Time-series DB - </a:t>
            </a:r>
            <a:r>
              <a:rPr lang="en-US" sz="2800" b="0" u="none" strike="noStrike">
                <a:solidFill>
                  <a:srgbClr val="000000"/>
                </a:solidFill>
                <a:effectLst/>
                <a:uFillTx/>
                <a:latin typeface="Calibri"/>
              </a:rPr>
              <a:t>stores sequences of values or events over repeated measurements of time ( hr, day, week) eg. Temp</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0" u="none" strike="noStrike">
                <a:solidFill>
                  <a:srgbClr val="C00000"/>
                </a:solidFill>
                <a:effectLst/>
                <a:uFillTx/>
                <a:latin typeface="Calibri"/>
              </a:rPr>
              <a:t>Temporal db-  </a:t>
            </a:r>
            <a:r>
              <a:rPr lang="en-IN" sz="2800" b="0" u="none" strike="noStrike">
                <a:solidFill>
                  <a:srgbClr val="000000"/>
                </a:solidFill>
                <a:effectLst/>
                <a:uFillTx/>
                <a:latin typeface="Calibri"/>
              </a:rPr>
              <a:t>stores  relational data include time related attributes like   timestamps having different semantics</a:t>
            </a:r>
            <a:endParaRPr lang="en-IN" sz="2800" b="0" u="none" strike="noStrike">
              <a:solidFill>
                <a:srgbClr val="000000"/>
              </a:solidFill>
              <a:effectLst/>
              <a:uFillTx/>
              <a:latin typeface="Calibri"/>
            </a:endParaRPr>
          </a:p>
          <a:p>
            <a:pPr marL="743040" lvl="1" indent="-285840">
              <a:lnSpc>
                <a:spcPct val="150000"/>
              </a:lnSpc>
              <a:spcBef>
                <a:spcPts val="45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1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C00000"/>
                </a:solidFill>
                <a:effectLst/>
                <a:uFillTx/>
                <a:latin typeface="Calibri"/>
              </a:rPr>
              <a:t>Sequence db- </a:t>
            </a:r>
            <a:r>
              <a:rPr lang="en-IN" sz="2800" b="0" u="none" strike="noStrike">
                <a:solidFill>
                  <a:srgbClr val="000000"/>
                </a:solidFill>
                <a:effectLst/>
                <a:uFillTx/>
                <a:latin typeface="Calibri"/>
              </a:rPr>
              <a:t>stores sequences of ordered events with/ </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without concrete notion of time Eg. Customer shopping sequences , biological sequence</a:t>
            </a:r>
            <a:endParaRPr lang="en-IN" sz="2800" b="0" u="none" strike="noStrike">
              <a:solidFill>
                <a:srgbClr val="000000"/>
              </a:solidFill>
              <a:effectLst/>
              <a:uFillTx/>
              <a:latin typeface="Calibri"/>
            </a:endParaRPr>
          </a:p>
          <a:p>
            <a:pPr marL="743040" lvl="1" indent="-285840">
              <a:lnSpc>
                <a:spcPct val="150000"/>
              </a:lnSpc>
              <a:spcBef>
                <a:spcPts val="7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800" b="0" u="none" strike="noStrike">
              <a:solidFill>
                <a:srgbClr val="000000"/>
              </a:solidFill>
              <a:effectLst/>
              <a:uFillTx/>
              <a:latin typeface="Calibri"/>
            </a:endParaRPr>
          </a:p>
        </p:txBody>
      </p:sp>
      <p:sp>
        <p:nvSpPr>
          <p:cNvPr id="99" name="Footer Placeholder 5"/>
          <p:cNvSpPr/>
          <p:nvPr/>
        </p:nvSpPr>
        <p:spPr>
          <a:xfrm>
            <a:off x="6781680" y="6248160"/>
            <a:ext cx="1905120" cy="457200"/>
          </a:xfrm>
          <a:prstGeom prst="rect">
            <a:avLst/>
          </a:prstGeom>
          <a:noFill/>
          <a:ln w="38160">
            <a:noFill/>
          </a:ln>
        </p:spPr>
        <p:style>
          <a:lnRef idx="0"/>
          <a:fillRef idx="0"/>
          <a:effectRef idx="0"/>
          <a:fontRef idx="minor"/>
        </p:style>
        <p:txBody>
          <a:bodyPr lIns="90000" tIns="46800" rIns="90000" bIns="46800" anchor="ctr">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98989"/>
                </a:solidFill>
                <a:effectLst/>
                <a:uFillTx/>
                <a:latin typeface="Arial"/>
              </a:rPr>
              <a:t>Lecture-3 Data Mining: On What kind of data?</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Picture 5" descr="C:\Users\system01\Desktop\DM CLASSPPTJUNE16\Unit 1\Chapter 1  Introduction to Data Mining_files\image014.gif"/>
          <p:cNvPicPr/>
          <p:nvPr/>
        </p:nvPicPr>
        <p:blipFill>
          <a:blip r:embed="rId1"/>
          <a:stretch/>
        </p:blipFill>
        <p:spPr>
          <a:xfrm>
            <a:off x="533160" y="1576080"/>
            <a:ext cx="8201160" cy="4900680"/>
          </a:xfrm>
          <a:prstGeom prst="rect">
            <a:avLst/>
          </a:prstGeom>
          <a:noFill/>
          <a:ln w="38160">
            <a:noFill/>
          </a:ln>
        </p:spPr>
      </p:pic>
      <p:sp>
        <p:nvSpPr>
          <p:cNvPr id="101" name="Rectangle 2"/>
          <p:cNvSpPr/>
          <p:nvPr/>
        </p:nvSpPr>
        <p:spPr>
          <a:xfrm>
            <a:off x="609480" y="304560"/>
            <a:ext cx="6553080" cy="520200"/>
          </a:xfrm>
          <a:prstGeom prst="rect">
            <a:avLst/>
          </a:prstGeom>
          <a:noFill/>
          <a:ln w="38160">
            <a:noFill/>
          </a:ln>
        </p:spPr>
        <p:style>
          <a:lnRef idx="0"/>
          <a:fillRef idx="0"/>
          <a:effectRef idx="0"/>
          <a:fontRef idx="minor"/>
        </p:style>
        <p:txBody>
          <a:bodyPr lIns="90000" tIns="46800" rIns="90000" bIns="46800" anchor="t">
            <a:spAutoFit/>
          </a:bodyPr>
          <a:p>
            <a:pPr marL="457200" lvl="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Arial"/>
              </a:rPr>
              <a:t>Time-series data and temporal data</a:t>
            </a:r>
            <a:endParaRPr lang="en-IN"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686160" y="-360"/>
            <a:ext cx="7848360" cy="114300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000000"/>
                </a:solidFill>
                <a:effectLst/>
                <a:uFillTx/>
                <a:latin typeface="Calibri"/>
              </a:rPr>
              <a:t>Data Mining: Advanced  Data? </a:t>
            </a:r>
            <a:endParaRPr lang="en-IN" sz="3600" b="0" u="none" strike="noStrike">
              <a:solidFill>
                <a:srgbClr val="000000"/>
              </a:solidFill>
              <a:effectLst/>
              <a:uFillTx/>
              <a:latin typeface="Calibri"/>
            </a:endParaRPr>
          </a:p>
        </p:txBody>
      </p:sp>
      <p:sp>
        <p:nvSpPr>
          <p:cNvPr id="103" name=""/>
          <p:cNvSpPr txBox="1"/>
          <p:nvPr/>
        </p:nvSpPr>
        <p:spPr>
          <a:xfrm>
            <a:off x="-228960" y="1066680"/>
            <a:ext cx="9753480" cy="4525920"/>
          </a:xfrm>
          <a:prstGeom prst="rect">
            <a:avLst/>
          </a:prstGeom>
          <a:noFill/>
          <a:ln w="0">
            <a:noFill/>
          </a:ln>
        </p:spPr>
        <p:txBody>
          <a:bodyPr anchor="t">
            <a:normAutofit fontScale="85000" lnSpcReduction="19999"/>
          </a:bodyPr>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Calibri"/>
              </a:rPr>
              <a:t>Spatial databases: </a:t>
            </a:r>
            <a:r>
              <a:rPr lang="en-US" sz="2800" b="0" u="none" strike="noStrike">
                <a:solidFill>
                  <a:srgbClr val="000000"/>
                </a:solidFill>
                <a:effectLst/>
                <a:uFillTx/>
                <a:latin typeface="Calibri"/>
              </a:rPr>
              <a:t> Geographic map database (maps)</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VLSI, CAD, Medical, satellite image db. </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Eg. Characteristics house located near specific location</a:t>
            </a:r>
            <a:endParaRPr lang="en-IN" sz="2800" b="0" u="none" strike="noStrike">
              <a:solidFill>
                <a:srgbClr val="000000"/>
              </a:solidFill>
              <a:effectLst/>
              <a:uFillTx/>
              <a:latin typeface="Calibri"/>
            </a:endParaRPr>
          </a:p>
          <a:p>
            <a:pPr marL="743040" lvl="1" indent="-285840">
              <a:lnSpc>
                <a:spcPct val="150000"/>
              </a:lnSpc>
              <a:spcBef>
                <a:spcPts val="4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Climate of mountainous area (</a:t>
            </a:r>
            <a:r>
              <a:rPr lang="en-IN" sz="2000" b="0" u="none" strike="noStrike">
                <a:solidFill>
                  <a:srgbClr val="C00000"/>
                </a:solidFill>
                <a:effectLst/>
                <a:uFillTx/>
                <a:latin typeface="Calibri"/>
              </a:rPr>
              <a:t>Represented dimensional bit maps/ pixel)</a:t>
            </a:r>
            <a:endParaRPr lang="en-IN" sz="20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C00000"/>
                </a:solidFill>
                <a:effectLst/>
                <a:uFillTx/>
                <a:latin typeface="Calibri"/>
              </a:rPr>
              <a:t>Text databases and Multimedia databases:</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Word description of objects with DM </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Construction, use of hierarchies : dictionaries, thesauruses</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800" b="0" u="none" strike="noStrike">
                <a:solidFill>
                  <a:srgbClr val="000000"/>
                </a:solidFill>
                <a:effectLst/>
                <a:uFillTx/>
                <a:latin typeface="Calibri"/>
              </a:rPr>
              <a:t>Store image, audio, video data. Picture content based retrievel</a:t>
            </a: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800" b="0" u="none" strike="noStrike">
              <a:solidFill>
                <a:srgbClr val="000000"/>
              </a:solidFill>
              <a:effectLst/>
              <a:uFillTx/>
              <a:latin typeface="Calibri"/>
            </a:endParaRPr>
          </a:p>
          <a:p>
            <a:pPr marL="743040" lvl="1" indent="-285840">
              <a:lnSpc>
                <a:spcPct val="150000"/>
              </a:lnSpc>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800" b="0" u="none" strike="noStrike">
              <a:solidFill>
                <a:srgbClr val="000000"/>
              </a:solidFill>
              <a:effectLst/>
              <a:uFillTx/>
              <a:latin typeface="Calibri"/>
            </a:endParaRPr>
          </a:p>
          <a:p>
            <a:pPr marL="743040" lvl="1" indent="-285840">
              <a:lnSpc>
                <a:spcPct val="150000"/>
              </a:lnSpc>
              <a:spcBef>
                <a:spcPts val="7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800" b="0" u="none" strike="noStrike">
              <a:solidFill>
                <a:srgbClr val="000000"/>
              </a:solidFill>
              <a:effectLst/>
              <a:uFillTx/>
              <a:latin typeface="Calibri"/>
            </a:endParaRPr>
          </a:p>
        </p:txBody>
      </p:sp>
      <p:sp>
        <p:nvSpPr>
          <p:cNvPr id="104" name="Footer Placeholder 5"/>
          <p:cNvSpPr/>
          <p:nvPr/>
        </p:nvSpPr>
        <p:spPr>
          <a:xfrm>
            <a:off x="6781680" y="6248160"/>
            <a:ext cx="1905120" cy="457200"/>
          </a:xfrm>
          <a:prstGeom prst="rect">
            <a:avLst/>
          </a:prstGeom>
          <a:noFill/>
          <a:ln w="38160">
            <a:noFill/>
          </a:ln>
        </p:spPr>
        <p:style>
          <a:lnRef idx="0"/>
          <a:fillRef idx="0"/>
          <a:effectRef idx="0"/>
          <a:fontRef idx="minor"/>
        </p:style>
        <p:txBody>
          <a:bodyPr lIns="90000" tIns="46800" rIns="90000" bIns="46800" anchor="ctr">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98989"/>
                </a:solidFill>
                <a:effectLst/>
                <a:uFillTx/>
                <a:latin typeface="Arial"/>
              </a:rPr>
              <a:t>Lecture-3 Data Mining: On What kind of data?</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Picture 4" descr="C:\Users\system01\Desktop\DM CLASSPPTJUNE16\Unit 1\Chapter 1  Introduction to Data Mining_files\image009.gif"/>
          <p:cNvPicPr/>
          <p:nvPr/>
        </p:nvPicPr>
        <p:blipFill>
          <a:blip r:embed="rId1"/>
          <a:stretch/>
        </p:blipFill>
        <p:spPr>
          <a:xfrm>
            <a:off x="304560" y="1371600"/>
            <a:ext cx="8666280" cy="4800600"/>
          </a:xfrm>
          <a:prstGeom prst="rect">
            <a:avLst/>
          </a:prstGeom>
          <a:noFill/>
          <a:ln w="38160">
            <a:noFill/>
          </a:ln>
        </p:spPr>
      </p:pic>
      <p:sp>
        <p:nvSpPr>
          <p:cNvPr id="106" name="Rectangle 2"/>
          <p:cNvSpPr/>
          <p:nvPr/>
        </p:nvSpPr>
        <p:spPr>
          <a:xfrm>
            <a:off x="457200" y="533160"/>
            <a:ext cx="4572000" cy="520200"/>
          </a:xfrm>
          <a:prstGeom prst="rect">
            <a:avLst/>
          </a:prstGeom>
          <a:noFill/>
          <a:ln w="38160">
            <a:noFill/>
          </a:ln>
        </p:spPr>
        <p:style>
          <a:lnRef idx="0"/>
          <a:fillRef idx="0"/>
          <a:effectRef idx="0"/>
          <a:fontRef idx="minor"/>
        </p:style>
        <p:txBody>
          <a:bodyPr lIns="90000" tIns="46800" rIns="90000" bIns="46800" anchor="t">
            <a:spAutoFit/>
          </a:bodyPr>
          <a:p>
            <a:pPr marL="457200" lvl="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00000"/>
                </a:solidFill>
                <a:effectLst/>
                <a:uFillTx/>
                <a:latin typeface="Arial"/>
              </a:rPr>
              <a:t>Spatial databases</a:t>
            </a:r>
            <a:endParaRPr lang="en-IN"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75600" y="152280"/>
            <a:ext cx="8915400" cy="6477120"/>
          </a:xfrm>
          <a:prstGeom prst="rect">
            <a:avLst/>
          </a:prstGeom>
          <a:noFill/>
          <a:ln w="0">
            <a:noFill/>
          </a:ln>
        </p:spPr>
        <p:txBody>
          <a:bodyPr lIns="91440" tIns="45720" rIns="91440" bIns="4572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2400"/>
            </a:br>
            <a:br>
              <a:rPr sz="2400"/>
            </a:br>
            <a:br>
              <a:rPr sz="2400"/>
            </a:br>
            <a:br>
              <a:rPr sz="2400"/>
            </a:br>
            <a:br>
              <a:rPr sz="2400"/>
            </a:br>
            <a:br>
              <a:rPr sz="2400"/>
            </a:br>
            <a:br>
              <a:rPr sz="2400"/>
            </a:br>
            <a:br>
              <a:rPr sz="2400"/>
            </a:br>
            <a:br>
              <a:rPr sz="2400"/>
            </a:br>
            <a:br>
              <a:rPr sz="2400"/>
            </a:br>
            <a:br>
              <a:rPr sz="2400"/>
            </a:br>
            <a:br>
              <a:rPr sz="2400"/>
            </a:br>
            <a:br>
              <a:rPr sz="2400"/>
            </a:br>
            <a:br>
              <a:rPr sz="2400"/>
            </a:br>
            <a:r>
              <a:rPr lang="en-US" sz="2800" b="0" u="none" strike="noStrike">
                <a:solidFill>
                  <a:srgbClr val="C00000"/>
                </a:solidFill>
                <a:effectLst/>
                <a:uFillTx/>
                <a:latin typeface="Calibri"/>
              </a:rPr>
              <a:t>WWW- provide rich worldwide online information service</a:t>
            </a:r>
            <a:br>
              <a:rPr sz="2400"/>
            </a:br>
            <a:br>
              <a:rPr sz="1200"/>
            </a:br>
            <a:r>
              <a:rPr lang="en-US" sz="2800" b="1" u="none" strike="noStrike">
                <a:solidFill>
                  <a:srgbClr val="000000"/>
                </a:solidFill>
                <a:effectLst/>
                <a:uFillTx/>
                <a:latin typeface="Calibri"/>
              </a:rPr>
              <a:t>Authoritative web page analysis  </a:t>
            </a:r>
            <a:r>
              <a:rPr lang="en-US" sz="2800" b="0" u="none" strike="noStrike">
                <a:solidFill>
                  <a:srgbClr val="000000"/>
                </a:solidFill>
                <a:effectLst/>
                <a:uFillTx/>
                <a:latin typeface="Calibri"/>
              </a:rPr>
              <a:t>rank the web pages based on their linkages and importance , influence, topics</a:t>
            </a:r>
            <a:br>
              <a:rPr sz="2800"/>
            </a:br>
            <a:br>
              <a:rPr sz="2800"/>
            </a:br>
            <a:r>
              <a:rPr lang="en-US" sz="2800" b="0" u="none" strike="noStrike">
                <a:solidFill>
                  <a:srgbClr val="000000"/>
                </a:solidFill>
                <a:effectLst/>
                <a:uFillTx/>
                <a:latin typeface="Calibri"/>
              </a:rPr>
              <a:t>Automated web page clustering and classification</a:t>
            </a:r>
            <a:br>
              <a:rPr sz="2800"/>
            </a:br>
            <a:br>
              <a:rPr sz="2400"/>
            </a:br>
            <a:r>
              <a:rPr lang="en-US" sz="2400" b="1" u="none" strike="noStrike">
                <a:solidFill>
                  <a:srgbClr val="000000"/>
                </a:solidFill>
                <a:effectLst/>
                <a:uFillTx/>
                <a:latin typeface="Calibri"/>
              </a:rPr>
              <a:t>Web usage mining/ web log mining -</a:t>
            </a:r>
            <a:r>
              <a:rPr lang="en-US" sz="2400" b="0" u="none" strike="noStrike">
                <a:solidFill>
                  <a:srgbClr val="000000"/>
                </a:solidFill>
                <a:effectLst/>
                <a:uFillTx/>
                <a:latin typeface="Calibri"/>
              </a:rPr>
              <a:t>capturing user access patterns I such distributed information environments</a:t>
            </a:r>
            <a:br>
              <a:rPr sz="2400"/>
            </a:br>
            <a:br>
              <a:rPr sz="2400"/>
            </a:br>
            <a:r>
              <a:rPr lang="en-US" sz="2400" b="0" u="none" strike="noStrike">
                <a:solidFill>
                  <a:srgbClr val="000000"/>
                </a:solidFill>
                <a:effectLst/>
                <a:uFillTx/>
                <a:latin typeface="Calibri"/>
              </a:rPr>
              <a:t>User access pattern – efficient access between highly correlate objects </a:t>
            </a:r>
            <a:br>
              <a:rPr sz="2400"/>
            </a:br>
            <a:br>
              <a:rPr sz="2400"/>
            </a:br>
            <a:r>
              <a:rPr lang="en-US" sz="2400" b="0" u="none" strike="noStrike">
                <a:solidFill>
                  <a:srgbClr val="000000"/>
                </a:solidFill>
                <a:effectLst/>
                <a:uFillTx/>
                <a:latin typeface="Calibri"/>
              </a:rPr>
              <a:t> improve system design</a:t>
            </a:r>
            <a:br>
              <a:rPr sz="2400"/>
            </a:br>
            <a:br>
              <a:rPr sz="2400"/>
            </a:br>
            <a:r>
              <a:rPr lang="en-US" sz="2400" b="0" u="none" strike="noStrike">
                <a:solidFill>
                  <a:srgbClr val="000000"/>
                </a:solidFill>
                <a:effectLst/>
                <a:uFillTx/>
                <a:latin typeface="Calibri"/>
              </a:rPr>
              <a:t>marketing decisions: placing frequently visited documents </a:t>
            </a:r>
            <a:br>
              <a:rPr sz="2400"/>
            </a:br>
            <a:br>
              <a:rPr sz="2400"/>
            </a:br>
            <a:br>
              <a:rPr sz="2400"/>
            </a:br>
            <a:br>
              <a:rPr sz="2400"/>
            </a:br>
            <a:br>
              <a:rPr sz="2400"/>
            </a:br>
            <a:br>
              <a:rPr sz="2400"/>
            </a:br>
            <a:br>
              <a:rPr sz="2400"/>
            </a:br>
            <a:br>
              <a:rPr sz="2400"/>
            </a:br>
            <a:br>
              <a:rPr sz="2400"/>
            </a:br>
            <a:br>
              <a:rPr sz="2400"/>
            </a:br>
            <a:br>
              <a:rPr sz="2400"/>
            </a:br>
            <a:br>
              <a:rPr sz="2400"/>
            </a:br>
            <a:br>
              <a:rPr sz="2400"/>
            </a:br>
            <a:br>
              <a:rPr sz="2400"/>
            </a:br>
            <a:br>
              <a:rPr sz="2400"/>
            </a:br>
            <a:br>
              <a:rPr sz="2400"/>
            </a:br>
            <a:endParaRPr lang="en-IN" sz="2400" b="0" u="none" strike="noStrik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8369</TotalTime>
  <Application>LibreOffice/26.8.0.3$Windows_X86_64 LibreOffice_project/bce0998afefdbc355585ca324285661a2170ba77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2007-11-19T06:45:14Z</dcterms:created>
  <dc:creator>Archana</dc:creator>
  <dc:description/>
  <dc:language>en-IN</dc:language>
  <cp:lastModifiedBy>Admin</cp:lastModifiedBy>
  <dcterms:modified xsi:type="dcterms:W3CDTF">2019-07-29T14:35:25Z</dcterms:modified>
  <cp:revision>175</cp:revision>
  <dc:subject/>
  <dc:title>Slide 1</dc:title>
</cp:coreProperties>
</file>
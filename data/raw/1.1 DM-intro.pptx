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embeddedFontLst>
    <p:embeddedFont>
      <p:font typeface="Tahoma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3" roundtripDataSignature="AMtx7mhN4/tfn1v6Y8ELbUoGiw3Nn8Mn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Tahoma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Tahom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FCEF"/>
            </a:gs>
            <a:gs pos="40000">
              <a:srgbClr val="FDFAE8"/>
            </a:gs>
            <a:gs pos="100000">
              <a:srgbClr val="76746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228600" y="5334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Data Mining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_know.jpg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856" y="2564904"/>
            <a:ext cx="5684120" cy="4122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3810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Why Data Mining?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533400" y="1219200"/>
            <a:ext cx="8229600" cy="507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Availability of huge amount of data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Necessity to convert the data into meaningful information Pattern Extraction from the large database</a:t>
            </a:r>
            <a:endParaRPr/>
          </a:p>
          <a:p>
            <a:pPr indent="-393700" lvl="2" marL="110871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⮚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DM applies various techniques to data to extract pattern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381000" y="609600"/>
            <a:ext cx="887152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Adv. Database Systems (mid 1980s – present)</a:t>
            </a:r>
            <a:endParaRPr/>
          </a:p>
          <a:p>
            <a:pPr indent="-19177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28600" lvl="2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Object relation model</a:t>
            </a:r>
            <a:endParaRPr/>
          </a:p>
          <a:p>
            <a:pPr indent="-228600" lvl="2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Spatial, multimedia, scientific &amp; Engineering database</a:t>
            </a:r>
            <a:endParaRPr/>
          </a:p>
          <a:p>
            <a:pPr indent="-134619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Adv. Data Analysis(Data warehouse late 1980s)</a:t>
            </a:r>
            <a:endParaRPr/>
          </a:p>
          <a:p>
            <a:pPr indent="-19177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Web based databases ( 1990s – present)</a:t>
            </a:r>
            <a:endParaRPr/>
          </a:p>
          <a:p>
            <a:pPr indent="-19177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Leads to generation of Integrated Data and Information System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914400" y="2746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Evolution- Database Technology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DM - growth of Information Technology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Need to process data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1960s – File processing system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       – Difficulty in FP leads to DB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1970s – early 1980s (DB)</a:t>
            </a:r>
            <a:endParaRPr/>
          </a:p>
          <a:p>
            <a:pPr indent="-342900" lvl="0" marL="342900" rtl="0" algn="l">
              <a:spcBef>
                <a:spcPts val="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Different DB models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Indexing and Accessing methods (B-trees, hashing)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SQL, forms and reports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OLTP		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/>
              <a:t>		</a:t>
            </a:r>
            <a:endParaRPr/>
          </a:p>
          <a:p>
            <a:pPr indent="-158114" lvl="2" marL="1143000" rtl="0" algn="l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200"/>
          </a:p>
          <a:p>
            <a:pPr indent="-158114" lvl="2" marL="1143000" rtl="0" algn="l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200"/>
          </a:p>
          <a:p>
            <a:pPr indent="-158114" lvl="2" marL="1143000" rtl="0" algn="l">
              <a:spcBef>
                <a:spcPts val="22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200"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2819400" y="76200"/>
            <a:ext cx="2505075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Collection and Database Creation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(1960s and Earlier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primitive file processing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600200" y="1066800"/>
            <a:ext cx="47244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Management Systems (1970s – early 1980s)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and network database systems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database systems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modeling tools: entity – relational models, etc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Indexing and accessing methods: B trees, hashing, etc.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languages: SQL, etc.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interfaces, forms and reports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processing and query optimization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Transactions, concurrency control and recovery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On-line transaction processing (OLTP)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62000" y="3352800"/>
            <a:ext cx="1971675" cy="23907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Database Systems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(mid- 1980s – present)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data models: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extended relational, object – relational, etc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applications: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spatial, temporal, multimedia, active, stream and sensor, scientific and engineering, knowledge based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743200" y="3352800"/>
            <a:ext cx="2743200" cy="259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Data Analysis: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warehousing and Data Mining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(late 1980s – present)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warehouse and OLAP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 mining and knowledge discovery: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generalization, classification, association, clustering, frequent pattern and structured pattern analysis, outlier analysis, trend and deviation analysis, etc.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data mining applications: stream data mining, bio-data mining, time-series analysis, text mining, Web mining, intrusion detection, etc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 and society: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privacy-preserving data mining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86400" y="3352800"/>
            <a:ext cx="1781175" cy="15716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Web-based databases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(1990s- present)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XML- based db systems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with information retrieval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and information integration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743200" y="6248400"/>
            <a:ext cx="3190875" cy="704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Generation of Integrated Data and Information Systems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(present-future)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4038600" y="838200"/>
            <a:ext cx="9525" cy="2000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5"/>
          <p:cNvCxnSpPr/>
          <p:nvPr/>
        </p:nvCxnSpPr>
        <p:spPr>
          <a:xfrm>
            <a:off x="3962400" y="2895600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5"/>
          <p:cNvCxnSpPr/>
          <p:nvPr/>
        </p:nvCxnSpPr>
        <p:spPr>
          <a:xfrm flipH="1" rot="10800000">
            <a:off x="1676400" y="3124196"/>
            <a:ext cx="4648200" cy="4571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5"/>
          <p:cNvCxnSpPr/>
          <p:nvPr/>
        </p:nvCxnSpPr>
        <p:spPr>
          <a:xfrm>
            <a:off x="1676400" y="3200400"/>
            <a:ext cx="0" cy="47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5"/>
          <p:cNvCxnSpPr/>
          <p:nvPr/>
        </p:nvCxnSpPr>
        <p:spPr>
          <a:xfrm>
            <a:off x="6324600" y="3200400"/>
            <a:ext cx="0" cy="47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5"/>
          <p:cNvCxnSpPr/>
          <p:nvPr/>
        </p:nvCxnSpPr>
        <p:spPr>
          <a:xfrm>
            <a:off x="4114800" y="5791200"/>
            <a:ext cx="9525" cy="4667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5"/>
          <p:cNvCxnSpPr/>
          <p:nvPr/>
        </p:nvCxnSpPr>
        <p:spPr>
          <a:xfrm>
            <a:off x="6979916" y="4924425"/>
            <a:ext cx="45719" cy="15764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5"/>
          <p:cNvCxnSpPr/>
          <p:nvPr/>
        </p:nvCxnSpPr>
        <p:spPr>
          <a:xfrm rot="10800000">
            <a:off x="6019800" y="6477000"/>
            <a:ext cx="9048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5"/>
          <p:cNvCxnSpPr/>
          <p:nvPr/>
        </p:nvCxnSpPr>
        <p:spPr>
          <a:xfrm flipH="1">
            <a:off x="1214412" y="5791200"/>
            <a:ext cx="45719" cy="9542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5"/>
          <p:cNvCxnSpPr/>
          <p:nvPr/>
        </p:nvCxnSpPr>
        <p:spPr>
          <a:xfrm>
            <a:off x="1295400" y="6705600"/>
            <a:ext cx="12477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Rich, Information Poor</a:t>
            </a:r>
            <a:endParaRPr/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20" y="1500174"/>
            <a:ext cx="8703057" cy="4786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3810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 What is Data Mining ?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152400" y="13716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62000" y="1371600"/>
            <a:ext cx="8382000" cy="4428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precious nuggets from a raw material</a:t>
            </a:r>
            <a:endParaRPr/>
          </a:p>
          <a:p>
            <a:pPr indent="-1524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Extracting / Mining knowledge from data </a:t>
            </a:r>
            <a:endParaRPr/>
          </a:p>
          <a:p>
            <a:pPr indent="-514350" lvl="1" marL="97155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Extraction from the large data base</a:t>
            </a:r>
            <a:endParaRPr/>
          </a:p>
          <a:p>
            <a:pPr indent="-514350" lvl="1" marL="97155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pattern?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3" marL="156591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Insights of data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(Hidden uncovered pattern -similarity )</a:t>
            </a:r>
            <a:endParaRPr/>
          </a:p>
          <a:p>
            <a:pPr indent="-400050" lvl="3" marL="156591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3" marL="156591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- Knowledge</a:t>
            </a:r>
            <a:endParaRPr/>
          </a:p>
          <a:p>
            <a:pPr indent="-450850" lvl="3" marL="156591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3" marL="156591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Gold Mining</a:t>
            </a:r>
            <a:endParaRPr/>
          </a:p>
        </p:txBody>
      </p:sp>
      <p:pic>
        <p:nvPicPr>
          <p:cNvPr descr="search_know.jpg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6380" y="4247705"/>
            <a:ext cx="3500462" cy="2538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304800" y="304800"/>
            <a:ext cx="8763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other words…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mining (knowledge discovery from data) </a:t>
            </a:r>
            <a:endParaRPr/>
          </a:p>
          <a:p>
            <a:pPr indent="0" lvl="1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Extraction of interesting (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non-trivial,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implicit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previously unknown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potentially useful)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patterns or knowledge from huge amount of data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names</a:t>
            </a:r>
            <a:endParaRPr/>
          </a:p>
          <a:p>
            <a:pPr indent="-15240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mining from databases </a:t>
            </a:r>
            <a:endParaRPr/>
          </a:p>
          <a:p>
            <a:pPr indent="-15240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extraction</a:t>
            </a:r>
            <a:endParaRPr/>
          </a:p>
          <a:p>
            <a:pPr indent="-15240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Data/pattern analysis</a:t>
            </a:r>
            <a:endParaRPr/>
          </a:p>
          <a:p>
            <a:pPr indent="-15240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harvesting</a:t>
            </a:r>
            <a:endParaRPr/>
          </a:p>
          <a:p>
            <a:pPr indent="-15240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discovery (mining) in databases (KDD)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228600" y="838200"/>
            <a:ext cx="8610600" cy="572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Non-exclusive list of a variety of information collected in digital form in databases and in flat files.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transactions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Scientific data: Medical and personal data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Surveillance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video and pictures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Satellite sensing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Games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media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 and Software engineering data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Worlds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reports and memos (e-mail messages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World Wide Web repositories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304800" y="219172"/>
            <a:ext cx="6555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kind of information are we collecting?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228600" y="1066800"/>
            <a:ext cx="8534400" cy="42196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Knowledge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converted into 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about historical patterns and future trends.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 information on retail supermarket sales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analyzed in terms of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promotional efforts to provide knowledge of consumer buying behavior.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Manufacturer/retailer determine which items are most susceptible to promotional efforts.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228600" y="381000"/>
            <a:ext cx="6705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Data Mining Applications</a:t>
            </a:r>
            <a:br>
              <a:rPr lang="en-US" sz="3200">
                <a:latin typeface="Arial"/>
                <a:ea typeface="Arial"/>
                <a:cs typeface="Arial"/>
                <a:sym typeface="Arial"/>
              </a:rPr>
            </a:b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152400" y="12192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>
                <a:solidFill>
                  <a:srgbClr val="C00000"/>
                </a:solidFill>
              </a:rPr>
              <a:t>Data mining is highly useful in the following domains −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285750" lvl="1" marL="74295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4200">
                <a:latin typeface="Arial"/>
                <a:ea typeface="Arial"/>
                <a:cs typeface="Arial"/>
                <a:sym typeface="Arial"/>
              </a:rPr>
              <a:t>Market Analysis and Management</a:t>
            </a:r>
            <a:endParaRPr/>
          </a:p>
          <a:p>
            <a:pPr indent="-285750" lvl="1" marL="74295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4200">
                <a:latin typeface="Arial"/>
                <a:ea typeface="Arial"/>
                <a:cs typeface="Arial"/>
                <a:sym typeface="Arial"/>
              </a:rPr>
              <a:t>Corporate Analysis &amp; Risk Management</a:t>
            </a:r>
            <a:endParaRPr/>
          </a:p>
          <a:p>
            <a:pPr indent="-285750" lvl="1" marL="74295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4200">
                <a:latin typeface="Arial"/>
                <a:ea typeface="Arial"/>
                <a:cs typeface="Arial"/>
                <a:sym typeface="Arial"/>
              </a:rPr>
              <a:t>Fraud Detection</a:t>
            </a:r>
            <a:endParaRPr/>
          </a:p>
          <a:p>
            <a:pPr indent="-285750" lvl="1" marL="74295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200">
                <a:latin typeface="Arial"/>
                <a:ea typeface="Arial"/>
                <a:cs typeface="Arial"/>
                <a:sym typeface="Arial"/>
              </a:rPr>
              <a:t>Apart from these, data mining can also be used in the areas of production control, customer retention, science exploration, sports, astrology, and Internet Web Surf-Aid.</a:t>
            </a:r>
            <a:endParaRPr/>
          </a:p>
          <a:p>
            <a:pPr indent="-285750" lvl="1" marL="74295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200">
              <a:latin typeface="Arial"/>
              <a:ea typeface="Arial"/>
              <a:cs typeface="Arial"/>
              <a:sym typeface="Arial"/>
            </a:endParaRPr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Data Mining Applications</a:t>
            </a:r>
            <a:br>
              <a:rPr lang="en-US" sz="3200">
                <a:latin typeface="Arial"/>
                <a:ea typeface="Arial"/>
                <a:cs typeface="Arial"/>
                <a:sym typeface="Arial"/>
              </a:rPr>
            </a:b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152400" y="1219200"/>
            <a:ext cx="9296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1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4400">
                <a:latin typeface="Arial"/>
                <a:ea typeface="Arial"/>
                <a:cs typeface="Arial"/>
                <a:sym typeface="Arial"/>
              </a:rPr>
              <a:t>Market Analysis and Management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</a:rPr>
              <a:t>Customer Profiling</a:t>
            </a:r>
            <a:r>
              <a:rPr lang="en-US"/>
              <a:t> − kind of people buy what kind of products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</a:rPr>
              <a:t>Identifying Customer Requirements</a:t>
            </a:r>
            <a:r>
              <a:rPr lang="en-US"/>
              <a:t> − best products for different customers(factors attract new customers)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</a:rPr>
              <a:t>Cross Market Analysis</a:t>
            </a:r>
            <a:r>
              <a:rPr lang="en-US"/>
              <a:t> −  association/correlations between product sales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</a:rPr>
              <a:t>Target Marketing</a:t>
            </a:r>
            <a:r>
              <a:rPr lang="en-US"/>
              <a:t> − clusters of model customers who share the same characteristics such as interests, spending habits, income, etc.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</a:rPr>
              <a:t>Determining Customer purchasing pattern</a:t>
            </a:r>
            <a:r>
              <a:rPr lang="en-US"/>
              <a:t> −  determining customer purchasing pattern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</a:rPr>
              <a:t>Providing Summary Information</a:t>
            </a:r>
            <a:r>
              <a:rPr lang="en-US"/>
              <a:t> −  multidimensional summary reports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/>
          <p:nvPr/>
        </p:nvSpPr>
        <p:spPr>
          <a:xfrm>
            <a:off x="152400" y="630081"/>
            <a:ext cx="9601200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Corporate Analysis and Risk Management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Finance Planning and Asset Evaluation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cash flow analysis and prediction,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contingent claim analysis to evaluate assets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Resource Planning</a:t>
            </a: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− summarizing and comparing the resources and spending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Competition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− monitoring competitors and market directions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Fraud Detection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Fields of credit card services and to detect fraud telephone calls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 of the call, duration of the call, time of the day or week, etc.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patterns that deviate from expected norms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/>
          <p:nvPr/>
        </p:nvSpPr>
        <p:spPr>
          <a:xfrm>
            <a:off x="228600" y="1524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Mining in Knowledge Discovery Process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nowledge Discovery"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5" y="781925"/>
            <a:ext cx="6428150" cy="591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214282" y="0"/>
            <a:ext cx="5900750" cy="79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Knowledge discovery from data</a:t>
            </a:r>
            <a:endParaRPr/>
          </a:p>
        </p:txBody>
      </p:sp>
      <p:sp>
        <p:nvSpPr>
          <p:cNvPr id="189" name="Google Shape;189;p15"/>
          <p:cNvSpPr txBox="1"/>
          <p:nvPr>
            <p:ph idx="1" type="body"/>
          </p:nvPr>
        </p:nvSpPr>
        <p:spPr>
          <a:xfrm>
            <a:off x="357158" y="1142984"/>
            <a:ext cx="9044022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Noto Sans Symbols"/>
              <a:buNone/>
            </a:pPr>
            <a:r>
              <a:rPr lang="en-US" sz="800">
                <a:solidFill>
                  <a:srgbClr val="C00000"/>
                </a:solidFill>
              </a:rPr>
              <a:t>    </a:t>
            </a:r>
            <a:r>
              <a:rPr lang="en-US" sz="2400">
                <a:solidFill>
                  <a:srgbClr val="C00000"/>
                </a:solidFill>
              </a:rPr>
              <a:t>KDD process includes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C00000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rgbClr val="993300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Data Cleaning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(to remove noise and inconsistent data)</a:t>
            </a:r>
            <a:endParaRPr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Data Integration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(multiple data sources combined)</a:t>
            </a:r>
            <a:endParaRPr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Data Selection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(data relevant to the analysis task are retrieved from DB)</a:t>
            </a:r>
            <a:endParaRPr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Data Transformation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(data are transformed or consolidated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                                 into forms appropriate for mining by performing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                                 summary or aggregation operations)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rPr lang="en-US" sz="800"/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>
            <a:off x="457200" y="274638"/>
            <a:ext cx="5972188" cy="65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KDD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continued….</a:t>
            </a:r>
            <a:endParaRPr/>
          </a:p>
        </p:txBody>
      </p:sp>
      <p:sp>
        <p:nvSpPr>
          <p:cNvPr id="196" name="Google Shape;196;p16"/>
          <p:cNvSpPr txBox="1"/>
          <p:nvPr>
            <p:ph idx="1" type="body"/>
          </p:nvPr>
        </p:nvSpPr>
        <p:spPr>
          <a:xfrm>
            <a:off x="428596" y="1357298"/>
            <a:ext cx="904402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Data Mining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(essential process-intelligent methods applied to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                   extract data patterns) 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Pattern Evaluation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(to identify truly interesting patterns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                             representing knowledge based on some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                             interestingness measures)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⮚"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Knowledge Presentation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(visualization and knowledge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                                       representation techniques used to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                                       present the mined knowledge to              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                                          user)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00200"/>
            <a:ext cx="8419407" cy="46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/>
          <p:nvPr/>
        </p:nvSpPr>
        <p:spPr>
          <a:xfrm>
            <a:off x="381000" y="228600"/>
            <a:ext cx="44342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Knowledge Discovery (KDD) Process</a:t>
            </a:r>
            <a:endParaRPr b="1"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457200" y="609600"/>
            <a:ext cx="8229600" cy="452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</a:t>
            </a: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—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of knowledge discovery process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References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Data Mining in Bioinformatics, “Jason T.L. Wang”, “Mohammed J.Zaki”, “Hannu T.T.Toivonen”, “Dennis Shasha”.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Data Mining Concepts and Techniques, “Jiawei Han &amp; Micheline Kamber”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Application of Data Mining in Bioinformatics, “Khalid Raza” , Indian Journal of Computer Science &amp; Engineering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2286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Mining in Knowledge Discovery Process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457200" y="274638"/>
            <a:ext cx="72390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Application</a:t>
            </a:r>
            <a:endParaRPr/>
          </a:p>
        </p:txBody>
      </p:sp>
      <p:sp>
        <p:nvSpPr>
          <p:cNvPr id="230" name="Google Shape;230;p22"/>
          <p:cNvSpPr txBox="1"/>
          <p:nvPr>
            <p:ph idx="1" type="body"/>
          </p:nvPr>
        </p:nvSpPr>
        <p:spPr>
          <a:xfrm>
            <a:off x="612648" y="1600200"/>
            <a:ext cx="8226552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Sales/Marketing (Buying patterns)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Banking ( credit card amount spend by the customer)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Insurance &amp; Health care ( Identify the customers)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Medicine ( characterize patient behavior)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Biology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title"/>
          </p:nvPr>
        </p:nvSpPr>
        <p:spPr>
          <a:xfrm>
            <a:off x="457200" y="274638"/>
            <a:ext cx="7315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Biological Application</a:t>
            </a:r>
            <a:endParaRPr/>
          </a:p>
        </p:txBody>
      </p:sp>
      <p:sp>
        <p:nvSpPr>
          <p:cNvPr id="236" name="Google Shape;23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/>
              <a:t>Sequence Analysis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/>
              <a:t>Genome annotation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/>
              <a:t>Analysis of gene, protein expression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/>
              <a:t>Analysis of mutation in cancer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/>
              <a:t>Protein structure prediction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/>
              <a:t>Modeling biological systems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/>
              <a:t>Protein-protein docking &amp; so 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title"/>
          </p:nvPr>
        </p:nvSpPr>
        <p:spPr>
          <a:xfrm>
            <a:off x="457200" y="274638"/>
            <a:ext cx="7162800" cy="258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Some of the Biological DM tools</a:t>
            </a:r>
            <a:endParaRPr/>
          </a:p>
        </p:txBody>
      </p:sp>
      <p:pic>
        <p:nvPicPr>
          <p:cNvPr id="242" name="Google Shape;242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5658" y="274649"/>
            <a:ext cx="9675300" cy="65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/>
          <p:nvPr/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Discovery (KDD) Process</a:t>
            </a:r>
            <a:endParaRPr b="1" sz="3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0" y="1066800"/>
            <a:ext cx="701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</a:t>
            </a: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—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of knowledge discovery process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25"/>
          <p:cNvCxnSpPr/>
          <p:nvPr/>
        </p:nvCxnSpPr>
        <p:spPr>
          <a:xfrm flipH="1" rot="10800000">
            <a:off x="1219200" y="5105400"/>
            <a:ext cx="990600" cy="60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1" name="Google Shape;251;p25"/>
          <p:cNvCxnSpPr/>
          <p:nvPr/>
        </p:nvCxnSpPr>
        <p:spPr>
          <a:xfrm flipH="1" rot="10800000">
            <a:off x="6781800" y="1600200"/>
            <a:ext cx="990600" cy="60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2" name="Google Shape;252;p25"/>
          <p:cNvCxnSpPr/>
          <p:nvPr/>
        </p:nvCxnSpPr>
        <p:spPr>
          <a:xfrm flipH="1" rot="10800000">
            <a:off x="5105400" y="2667000"/>
            <a:ext cx="990600" cy="60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3" name="Google Shape;253;p25"/>
          <p:cNvCxnSpPr/>
          <p:nvPr/>
        </p:nvCxnSpPr>
        <p:spPr>
          <a:xfrm flipH="1" rot="10800000">
            <a:off x="3276600" y="3733800"/>
            <a:ext cx="990600" cy="60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4" name="Google Shape;254;p25"/>
          <p:cNvSpPr/>
          <p:nvPr/>
        </p:nvSpPr>
        <p:spPr>
          <a:xfrm>
            <a:off x="228600" y="5562600"/>
            <a:ext cx="685800" cy="152400"/>
          </a:xfrm>
          <a:prstGeom prst="ellipse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228600" y="5638800"/>
            <a:ext cx="685800" cy="406400"/>
          </a:xfrm>
          <a:prstGeom prst="rect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28600" y="5943600"/>
            <a:ext cx="685800" cy="152400"/>
          </a:xfrm>
          <a:prstGeom prst="ellipse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609600" y="5943600"/>
            <a:ext cx="685800" cy="152400"/>
          </a:xfrm>
          <a:prstGeom prst="ellipse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609600" y="6019800"/>
            <a:ext cx="685800" cy="406400"/>
          </a:xfrm>
          <a:prstGeom prst="rect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609600" y="6324600"/>
            <a:ext cx="685800" cy="152400"/>
          </a:xfrm>
          <a:prstGeom prst="ellipse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1295400" y="5715000"/>
            <a:ext cx="685800" cy="152400"/>
          </a:xfrm>
          <a:prstGeom prst="ellipse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1295400" y="5791200"/>
            <a:ext cx="685800" cy="406400"/>
          </a:xfrm>
          <a:prstGeom prst="rect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1295400" y="6096000"/>
            <a:ext cx="685800" cy="152400"/>
          </a:xfrm>
          <a:prstGeom prst="ellipse">
            <a:avLst/>
          </a:prstGeom>
          <a:solidFill>
            <a:srgbClr val="00CC6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304800" y="4876800"/>
            <a:ext cx="17430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1600200" y="5410200"/>
            <a:ext cx="19954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1371600" y="62484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Databases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066800" y="4114800"/>
            <a:ext cx="19970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</a:t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2362200" y="4572000"/>
            <a:ext cx="685800" cy="6858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4419600" y="3429000"/>
            <a:ext cx="457200" cy="4572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6477000" y="1981200"/>
            <a:ext cx="76200" cy="609600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6553200" y="2209800"/>
            <a:ext cx="76200" cy="3810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6400800" y="2133600"/>
            <a:ext cx="76200" cy="4572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6629400" y="2362200"/>
            <a:ext cx="76200" cy="2286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6172200" y="2590800"/>
            <a:ext cx="685800" cy="762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248400" y="2362200"/>
            <a:ext cx="152400" cy="228600"/>
          </a:xfrm>
          <a:prstGeom prst="rect">
            <a:avLst/>
          </a:prstGeom>
          <a:solidFill>
            <a:srgbClr val="FF99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7086600" y="990600"/>
            <a:ext cx="1743075" cy="6127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0"/>
                </a:gradFill>
                <a:latin typeface="Impact"/>
              </a:rPr>
              <a:t>Knowledge</a:t>
            </a:r>
          </a:p>
        </p:txBody>
      </p:sp>
      <p:sp>
        <p:nvSpPr>
          <p:cNvPr id="276" name="Google Shape;276;p25"/>
          <p:cNvSpPr txBox="1"/>
          <p:nvPr/>
        </p:nvSpPr>
        <p:spPr>
          <a:xfrm>
            <a:off x="2514600" y="3276600"/>
            <a:ext cx="22780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Task-relevant Data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3641725" y="4052888"/>
            <a:ext cx="11557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4267200" y="2590800"/>
            <a:ext cx="1558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Mining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5257800" y="1676400"/>
            <a:ext cx="22494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Evaluation</a:t>
            </a:r>
            <a:endParaRPr/>
          </a:p>
        </p:txBody>
      </p:sp>
      <p:cxnSp>
        <p:nvCxnSpPr>
          <p:cNvPr id="280" name="Google Shape;280;p25"/>
          <p:cNvCxnSpPr/>
          <p:nvPr/>
        </p:nvCxnSpPr>
        <p:spPr>
          <a:xfrm>
            <a:off x="5638800" y="3124200"/>
            <a:ext cx="0" cy="213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" name="Google Shape;281;p25"/>
          <p:cNvCxnSpPr/>
          <p:nvPr/>
        </p:nvCxnSpPr>
        <p:spPr>
          <a:xfrm>
            <a:off x="7315200" y="2057400"/>
            <a:ext cx="0" cy="320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p25"/>
          <p:cNvCxnSpPr/>
          <p:nvPr/>
        </p:nvCxnSpPr>
        <p:spPr>
          <a:xfrm rot="10800000">
            <a:off x="3962400" y="5257800"/>
            <a:ext cx="3352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25"/>
          <p:cNvCxnSpPr/>
          <p:nvPr/>
        </p:nvCxnSpPr>
        <p:spPr>
          <a:xfrm rot="10800000">
            <a:off x="3962400" y="4343400"/>
            <a:ext cx="0" cy="91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p25"/>
          <p:cNvCxnSpPr/>
          <p:nvPr/>
        </p:nvCxnSpPr>
        <p:spPr>
          <a:xfrm>
            <a:off x="7315200" y="5257800"/>
            <a:ext cx="0" cy="83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p25"/>
          <p:cNvCxnSpPr/>
          <p:nvPr/>
        </p:nvCxnSpPr>
        <p:spPr>
          <a:xfrm rot="10800000">
            <a:off x="2286000" y="6096000"/>
            <a:ext cx="502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25"/>
          <p:cNvCxnSpPr/>
          <p:nvPr/>
        </p:nvCxnSpPr>
        <p:spPr>
          <a:xfrm rot="10800000">
            <a:off x="1905000" y="5410200"/>
            <a:ext cx="381000" cy="68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25"/>
          <p:cNvCxnSpPr/>
          <p:nvPr/>
        </p:nvCxnSpPr>
        <p:spPr>
          <a:xfrm>
            <a:off x="2057400" y="54102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med" w="med" type="none"/>
            <a:tailEnd len="med" w="med" type="none"/>
          </a:ln>
        </p:spPr>
      </p:cxnSp>
      <p:cxnSp>
        <p:nvCxnSpPr>
          <p:cNvPr id="288" name="Google Shape;288;p25"/>
          <p:cNvCxnSpPr/>
          <p:nvPr/>
        </p:nvCxnSpPr>
        <p:spPr>
          <a:xfrm rot="10800000">
            <a:off x="3657600" y="4191000"/>
            <a:ext cx="0" cy="121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2013-07-08T05:06:47Z</dcterms:created>
  <dc:creator>PU</dc:creator>
</cp:coreProperties>
</file>
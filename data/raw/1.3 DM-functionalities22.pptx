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2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3884040" y="0"/>
            <a:ext cx="2971800" cy="45720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notes format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-36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388404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DF7A8C-C1B9-4E37-93AA-24D7598E225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Slide Number Placeholder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0BA065C-D2C4-4A98-BD30-57AC588135A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B3B483-CD6D-4D4D-B0DE-8E09CC32DE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3360" cy="365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5480" cy="365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3720" cy="365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66B45EB-C9F7-4328-AFFB-22CAE6357F4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7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 Mining Functionalities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914040" y="3733200"/>
            <a:ext cx="7467480" cy="175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Specify kinds of Patterns viewed -DM tasks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-228960" y="228240"/>
            <a:ext cx="655308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can be Discovered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04560" y="990000"/>
            <a:ext cx="8150400" cy="571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2720" indent="-342720" algn="just">
              <a:lnSpc>
                <a:spcPct val="90000"/>
              </a:lnSpc>
              <a:spcBef>
                <a:spcPts val="649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Kind of patterns based on DM tasks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90000"/>
              </a:lnSpc>
              <a:spcBef>
                <a:spcPts val="649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 mining tasks 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90000"/>
              </a:lnSpc>
              <a:spcBef>
                <a:spcPts val="349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 algn="just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Wingdings" charset="2"/>
              <a:buChar char="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Descriptive 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 algn="just">
              <a:lnSpc>
                <a:spcPct val="90000"/>
              </a:lnSpc>
              <a:spcBef>
                <a:spcPts val="550"/>
              </a:spcBef>
              <a:buClr>
                <a:srgbClr val="C00000"/>
              </a:buClr>
              <a:buFont typeface="Wingdings" charset="2"/>
              <a:buChar char="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 Predictive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 algn="just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Wingdings" charset="2"/>
              <a:buChar char="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90000"/>
              </a:lnSpc>
              <a:spcBef>
                <a:spcPts val="675"/>
              </a:spcBef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Descriptive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2680" lvl="1" indent="-285480" algn="just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Characterize the general properties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5200" lvl="3" algn="just">
              <a:lnSpc>
                <a:spcPct val="90000"/>
              </a:lnSpc>
              <a:spcBef>
                <a:spcPts val="425"/>
              </a:spcBef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90000"/>
              </a:lnSpc>
              <a:spcBef>
                <a:spcPts val="550"/>
              </a:spcBef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Predictive 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2680" lvl="1" indent="-285480" algn="just">
              <a:lnSpc>
                <a:spcPct val="16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Constructing one or more sets of data models, 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2680" lvl="1" indent="-285480" algn="just">
              <a:lnSpc>
                <a:spcPct val="16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performing inference on the available set of data, 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2680" lvl="1" indent="-285480" algn="just">
              <a:lnSpc>
                <a:spcPct val="16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attempting to predict the behaviour of new data sets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Ex: classification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04200" y="228240"/>
            <a:ext cx="861084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DM Functionalities-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that discover kinds of patterns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228600" y="1676160"/>
            <a:ext cx="9524880" cy="4191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50000"/>
              </a:lnSpc>
              <a:buClr>
                <a:srgbClr val="0070C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Concept / Class description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50000"/>
              </a:lnSpc>
              <a:buClr>
                <a:srgbClr val="0070C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Mining frequent Patterns, Associations &amp; Correlations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50000"/>
              </a:lnSpc>
              <a:buClr>
                <a:srgbClr val="0070C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Classification &amp; Prediction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50000"/>
              </a:lnSpc>
              <a:buClr>
                <a:srgbClr val="0070C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Cluster Analysis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50000"/>
              </a:lnSpc>
              <a:buClr>
                <a:srgbClr val="0070C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Outlier Analysis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50000"/>
              </a:lnSpc>
              <a:buClr>
                <a:srgbClr val="0070C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Evolution Analysis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5333760" cy="94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Concept/ Class description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57200" y="1295280"/>
            <a:ext cx="8229600" cy="5410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2720" indent="-342720" algn="just">
              <a:lnSpc>
                <a:spcPct val="14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Referred as data to be associated with classes or concepts 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 Classes of items for sales include computer and printers, 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 Concepts of customers include big spenders and budget spenders. 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describe individual classes and concepts in summarized , concise and yet precise terms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4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Such descriptions of a class or concept- </a:t>
            </a:r>
            <a:r>
              <a:rPr lang="en-US" sz="23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class/concept descriptions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4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Descriptions can be derived via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22960" lvl="1" indent="-457200" algn="just"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Data characterization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22960" lvl="1" indent="-457200" algn="just"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	</a:t>
            </a: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Data discrimination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22960" lvl="1" indent="-457200" algn="just"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	</a:t>
            </a: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Or Both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22960" lvl="1" indent="-45720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541008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Data </a:t>
            </a: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Characterization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 (DC)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28240" y="1295280"/>
            <a:ext cx="8915400" cy="4495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500" lnSpcReduction="19999"/>
          </a:bodyPr>
          <a:p>
            <a:pPr marL="194400" indent="-19440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Target Class –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refers to summarizing data of class under study. This class under study is called as Target Class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2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Summarization of general characteristics/ features of class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collected by a database query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characteristics of customers who spend more than $1000 a year at shop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characteristics of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software products whose sales increased by 10% in the last year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Effective method - data summarization and characterization based 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statistical measure and plots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Resulting characteristic descriptions- output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presented in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generalized relations/rule – characteristic rules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(pie chart, bar graph, curves, multidimensional tables, etc) -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Attributed oriented induction technique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Result-  General profile of customer –age (40-50), employed, credit ratings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spcBef>
                <a:spcPts val="2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-228960" y="-360"/>
            <a:ext cx="464796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Data Discrimination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52280" y="1142640"/>
            <a:ext cx="9220320" cy="5181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194400" indent="-194400" algn="just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Contrasting Classes-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 refers to the mapping or classification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of a class with some predefined group or class.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spcBef>
                <a:spcPts val="3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Comparison of the target class with one or a set of  comparative classes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 compare the general features of software products whose sales increased by 10%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in the last year with those whose sales decreased by at least 30% during the same p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eriod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spcBef>
                <a:spcPts val="3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spcBef>
                <a:spcPts val="3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Same Effective method - data  discrimination based on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statistical measure and plots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Resulting discrimination descriptions-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Discrimination rules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include comparative measure – distinguish target and contrasting class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Result- buying compute products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6840" y="273960"/>
            <a:ext cx="655308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II Mining Frequent Patterns (MFP)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32800" y="1447200"/>
            <a:ext cx="8153640" cy="3962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algn="just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Patterns that occur frequently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spcBef>
                <a:spcPts val="425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spcBef>
                <a:spcPts val="425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spcBef>
                <a:spcPts val="75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Kinds of frequent patterns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 algn="just">
              <a:spcBef>
                <a:spcPts val="825"/>
              </a:spcBef>
              <a:buClr>
                <a:srgbClr val="C00000"/>
              </a:buClr>
              <a:buFont typeface="Wingdings" charset="2"/>
              <a:buChar char="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Item sets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 algn="just">
              <a:spcBef>
                <a:spcPts val="825"/>
              </a:spcBef>
              <a:buClr>
                <a:srgbClr val="C00000"/>
              </a:buClr>
              <a:buFont typeface="Wingdings" charset="2"/>
              <a:buChar char="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subsequences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 algn="just">
              <a:spcBef>
                <a:spcPts val="825"/>
              </a:spcBef>
              <a:buClr>
                <a:srgbClr val="C00000"/>
              </a:buClr>
              <a:buFont typeface="Wingdings" charset="2"/>
              <a:buChar char="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sub structures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 algn="just">
              <a:spcBef>
                <a:spcPts val="825"/>
              </a:spcBef>
              <a:buClr>
                <a:srgbClr val="C00000"/>
              </a:buClr>
              <a:buFont typeface="Wingdings" charset="2"/>
              <a:buChar char="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3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6840" y="273960"/>
            <a:ext cx="655308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II Mining Frequent Patterns (MFP)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32800" y="1447200"/>
            <a:ext cx="8153640" cy="3962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143000" lvl="2" indent="-228600" algn="just">
              <a:lnSpc>
                <a:spcPct val="90000"/>
              </a:lnSpc>
              <a:spcBef>
                <a:spcPts val="26"/>
              </a:spcBef>
              <a:buClr>
                <a:srgbClr val="C00000"/>
              </a:buClr>
              <a:buFont typeface="Wingdings" charset="2"/>
              <a:buChar char="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90000"/>
              </a:lnSpc>
              <a:spcBef>
                <a:spcPts val="601"/>
              </a:spcBef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Frequent Item-sets</a:t>
            </a: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Refers to a set of items that frequently appear together in a transactional data set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9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Very common problem in Market-Basket applications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Given a set of items I ={milk, bread, jelly, …}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Given a set of transactions where each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transaction contains subset of items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t1 = {milk, bread, water}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t2 = {milk, nuts, butter, rice}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0" name="Picture 4"/>
          <p:cNvPicPr/>
          <p:nvPr/>
        </p:nvPicPr>
        <p:blipFill>
          <a:blip r:embed="rId1"/>
          <a:stretch/>
        </p:blipFill>
        <p:spPr>
          <a:xfrm>
            <a:off x="6086160" y="3676320"/>
            <a:ext cx="3057840" cy="31816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MFP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28240" y="1371240"/>
            <a:ext cx="8762760" cy="4297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2720" indent="-342720" algn="just">
              <a:lnSpc>
                <a:spcPct val="100000"/>
              </a:lnSpc>
              <a:spcBef>
                <a:spcPts val="601"/>
              </a:spcBef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Sub sequence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-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frequently occurring sub sequence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Ex: pattern that customers tend to purchase first a PC, followed by a digital camera, and then a memory card, is a sequential pattern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00000"/>
              </a:lnSpc>
              <a:spcBef>
                <a:spcPts val="700"/>
              </a:spcBef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00000"/>
              </a:lnSpc>
              <a:spcBef>
                <a:spcPts val="700"/>
              </a:spcBef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sng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Substructure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Different structural forms, such as graphs or trees which may be combined with item sets or subsequence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Mining frequent patterns lead to the discovery of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     </a:t>
            </a:r>
            <a:r>
              <a:rPr lang="en-US" sz="2400" b="0" u="sng" strike="noStrike">
                <a:solidFill>
                  <a:srgbClr val="002060"/>
                </a:solidFill>
                <a:effectLst/>
                <a:uFillTx/>
                <a:latin typeface="Arial"/>
                <a:ea typeface="Arial"/>
              </a:rPr>
              <a:t>association and correlation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04200" y="228240"/>
            <a:ext cx="2514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Association</a:t>
            </a:r>
            <a:r>
              <a:rPr lang="en-US" sz="44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 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33160" y="1295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2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Studies the frequency of items occurring in the TDB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2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Written in the form of association rules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2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Based on the threshold ( conditional probability)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lvl="1" indent="-285840">
              <a:lnSpc>
                <a:spcPct val="150000"/>
              </a:lnSpc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Support (% analysis result)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lvl="1" indent="-285840">
              <a:lnSpc>
                <a:spcPct val="150000"/>
              </a:lnSpc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Confidence (% of chance)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lvl="1" indent="-285840">
              <a:lnSpc>
                <a:spcPct val="150000"/>
              </a:lnSpc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Used for Market – Basket Analysis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C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586728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Association (EX) &amp; Correlation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57200" y="9144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9999"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Association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Items frequently purchased together within the same transactions.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The rule is: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Buys(X, “computer”)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buys(X, ”software”)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       [support = 1%, confidence = 50% ]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Association rule - one predicate – buys(simplified)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                         computer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software [1%, 50%]”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Correlation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Another statistical analysis performed in the patterns.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75600"/>
            <a:ext cx="541008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Classification -</a:t>
            </a: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organization of data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28600" y="914400"/>
            <a:ext cx="906768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9999"/>
          </a:bodyPr>
          <a:p>
            <a:pPr marL="194400" indent="-194400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Supervised Classification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Process of finding a model/ function - describes &amp; distinguishes data classes or concepts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to predict the class of objects </a:t>
            </a:r>
            <a:r>
              <a:rPr lang="en-US" sz="2400" b="0" u="sng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class label is unknown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Uses 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training set –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0" u="sng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 a class labels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272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Classification algorithm learns from training set  build a model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to classify new objects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04560" y="151920"/>
            <a:ext cx="289584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cont…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Classification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28240" y="990360"/>
            <a:ext cx="8150040" cy="502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derived model represented in various forms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if-then rule, decision tree or neural network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1" name="Picture 3"/>
          <p:cNvPicPr/>
          <p:nvPr/>
        </p:nvPicPr>
        <p:blipFill>
          <a:blip r:embed="rId1"/>
          <a:stretch/>
        </p:blipFill>
        <p:spPr>
          <a:xfrm>
            <a:off x="838080" y="2209680"/>
            <a:ext cx="7924680" cy="46483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-685800" y="228600"/>
            <a:ext cx="5943600" cy="86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 (if-then rule)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94400" indent="-194400" algn="just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 classify a large set of store items based on three kinds of responses: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good, mild and no response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 algn="just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in if-then rule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age(X, ”youth”) AND income(X,” high”)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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class(X,”A”)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age(X, ”youth”) AND income(X,” low”)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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class(X,”B”)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age(X,” middle-aged”)                       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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class(X,”C”)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age(X,” senior”)                                 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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class(X,”C”)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94400" indent="-194400">
              <a:lnSpc>
                <a:spcPct val="10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3657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(decision tree)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5" name="Content Placeholder 6" descr="dtree.bmp"/>
          <p:cNvPicPr/>
          <p:nvPr/>
        </p:nvPicPr>
        <p:blipFill>
          <a:blip r:embed="rId1"/>
          <a:stretch/>
        </p:blipFill>
        <p:spPr>
          <a:xfrm>
            <a:off x="761760" y="1538280"/>
            <a:ext cx="7467840" cy="45576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-360" y="151920"/>
            <a:ext cx="464796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Classification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- Prediction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04560" y="1600200"/>
            <a:ext cx="86868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Classification predicts categorical (discrete/ unordered) data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Prediction predicts continuous-value and missing or unavailable numerical data values rather than class labels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Prediction of numerical data -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Regression Analysis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240" y="609120"/>
            <a:ext cx="518148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Cluster Analysis-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organization of data </a:t>
            </a:r>
            <a:r>
              <a:rPr lang="en-US" sz="16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04200" y="1752480"/>
            <a:ext cx="9525240" cy="4952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Unsupervised Classification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Clustering - set of objects into groups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Similar to classification, class labels are unknown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Clustering algorithm discovers the classes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Used to organize the data whose class labels are unknown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04200" y="2133000"/>
            <a:ext cx="8153640" cy="449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algn="just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 cluster the cancer and non-cancer patient details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Cancer related data will be grouped into one set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and the remaining will be grouped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 into another set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 cluster the high, medium and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 low marks of n students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1" name="Picture 3"/>
          <p:cNvPicPr/>
          <p:nvPr/>
        </p:nvPicPr>
        <p:blipFill>
          <a:blip r:embed="rId1"/>
          <a:stretch/>
        </p:blipFill>
        <p:spPr>
          <a:xfrm>
            <a:off x="3962160" y="2286000"/>
            <a:ext cx="4869000" cy="436716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80880" y="151920"/>
            <a:ext cx="32767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Cluster Analysis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Rectangle 4"/>
          <p:cNvSpPr/>
          <p:nvPr/>
        </p:nvSpPr>
        <p:spPr>
          <a:xfrm>
            <a:off x="304560" y="838080"/>
            <a:ext cx="8686800" cy="9169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homogeneous subpopulations of customers- individual target groups for marketing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2-D plot of customers with respect to customer locations in a city.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04200" y="151920"/>
            <a:ext cx="35053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 Outlier Analysis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04560" y="1523520"/>
            <a:ext cx="8229600" cy="4754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database may contain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 objects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that do not obey with the general behavior or model of the data - </a:t>
            </a:r>
            <a:r>
              <a:rPr lang="en-US" sz="2400" b="0" u="sng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outliers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Outlier elements cannot be grouped in a given class or cluster -Known as exceptions or surprises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86868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Outlier Analysis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(Very important in some cases)</a:t>
            </a:r>
            <a:br>
              <a:rPr sz="2800"/>
            </a:b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04560" y="13716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 data mining methods discard outliers as noise or exceptions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Application fraud detection, the rare events more interesting than the more regularly occurring ones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analysis of outlier data is known as </a:t>
            </a:r>
            <a:r>
              <a:rPr lang="en-US" sz="2400" b="0" u="sng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outlier mining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Eg. uncover fraudulent usage of credit cards - detecting purchases of extremely large amounts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1920" y="228240"/>
            <a:ext cx="426708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Evolution Analysis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32800" y="1752120"/>
            <a:ext cx="8153640" cy="3505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 evolution analysis describes and models the regularities or trends for objects whose behavior changes over time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Models evolutionary trends in data which provide a way for characterizing, comparing, classifying or clustering of time related data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2011-07-11T12:29:50Z</dcterms:created>
  <dc:creator>PONDICHERRY UNIVERSITY</dc:creator>
  <dc:description/>
  <dc:language>en-IN</dc:language>
  <cp:lastModifiedBy>amouda</cp:lastModifiedBy>
  <dcterms:modified xsi:type="dcterms:W3CDTF">2022-09-12T14:28:47Z</dcterms:modified>
  <cp:revision>156</cp:revision>
  <dc:subject/>
  <dc:title>Slide 1</dc:title>
</cp:coreProperties>
</file>